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9" Type="http://schemas.openxmlformats.org/officeDocument/2006/relationships/image" Target="../media/image19.png"/><Relationship Id="rId8" Type="http://schemas.openxmlformats.org/officeDocument/2006/relationships/image" Target="../media/image18.png"/><Relationship Id="rId7" Type="http://schemas.openxmlformats.org/officeDocument/2006/relationships/image" Target="../media/image17.png"/><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0.png"/><Relationship Id="rId3" Type="http://schemas.openxmlformats.org/officeDocument/2006/relationships/image" Target="../media/image14.png"/><Relationship Id="rId2" Type="http://schemas.openxmlformats.org/officeDocument/2006/relationships/image" Target="../media/image5.png"/><Relationship Id="rId14" Type="http://schemas.openxmlformats.org/officeDocument/2006/relationships/notesSlide" Target="../notesSlides/notesSlide5.xml"/><Relationship Id="rId13" Type="http://schemas.openxmlformats.org/officeDocument/2006/relationships/slideLayout" Target="../slideLayouts/slideLayout1.xml"/><Relationship Id="rId12" Type="http://schemas.openxmlformats.org/officeDocument/2006/relationships/image" Target="../media/image21.png"/><Relationship Id="rId11" Type="http://schemas.openxmlformats.org/officeDocument/2006/relationships/image" Target="../media/image20.png"/><Relationship Id="rId10" Type="http://schemas.openxmlformats.org/officeDocument/2006/relationships/image" Target="../media/image13.png"/><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rot="2700000">
            <a:off x="9692640" y="-548640"/>
            <a:ext cx="3657600" cy="3657600"/>
          </a:xfrm>
          <a:prstGeom prst="rect">
            <a:avLst/>
          </a:prstGeom>
          <a:solidFill>
            <a:srgbClr val="065A82">
              <a:alpha val="45000"/>
            </a:srgbClr>
          </a:solidFill>
        </p:spPr>
      </p:sp>
      <p:sp>
        <p:nvSpPr>
          <p:cNvPr id="3" name="Shape 1"/>
          <p:cNvSpPr/>
          <p:nvPr/>
        </p:nvSpPr>
        <p:spPr>
          <a:xfrm rot="2700000">
            <a:off x="10607040" y="4754880"/>
            <a:ext cx="2743200" cy="2743200"/>
          </a:xfrm>
          <a:prstGeom prst="rect">
            <a:avLst/>
          </a:prstGeom>
          <a:solidFill>
            <a:srgbClr val="1C7293">
              <a:alpha val="55000"/>
            </a:srgbClr>
          </a:solidFill>
        </p:spPr>
      </p:sp>
      <p:sp>
        <p:nvSpPr>
          <p:cNvPr id="4" name="Shape 2"/>
          <p:cNvSpPr/>
          <p:nvPr/>
        </p:nvSpPr>
        <p:spPr>
          <a:xfrm>
            <a:off x="640080" y="502920"/>
            <a:ext cx="822960" cy="822960"/>
          </a:xfrm>
          <a:prstGeom prst="ellipse">
            <a:avLst/>
          </a:prstGeom>
          <a:solidFill>
            <a:srgbClr val="1C7293"/>
          </a:solidFill>
        </p:spPr>
      </p:sp>
      <p:pic>
        <p:nvPicPr>
          <p:cNvPr id="5" name="Image 0" descr="icons/cube.png"/>
          <p:cNvPicPr>
            <a:picLocks noChangeAspect="1"/>
          </p:cNvPicPr>
          <p:nvPr/>
        </p:nvPicPr>
        <p:blipFill>
          <a:blip r:embed="rId1"/>
          <a:stretch>
            <a:fillRect/>
          </a:stretch>
        </p:blipFill>
        <p:spPr>
          <a:xfrm>
            <a:off x="837590" y="700430"/>
            <a:ext cx="427939" cy="427939"/>
          </a:xfrm>
          <a:prstGeom prst="rect">
            <a:avLst/>
          </a:prstGeom>
        </p:spPr>
      </p:pic>
      <p:sp>
        <p:nvSpPr>
          <p:cNvPr id="6" name="Text 3"/>
          <p:cNvSpPr/>
          <p:nvPr/>
        </p:nvSpPr>
        <p:spPr>
          <a:xfrm>
            <a:off x="640080" y="1417320"/>
            <a:ext cx="7315200" cy="365760"/>
          </a:xfrm>
          <a:prstGeom prst="rect">
            <a:avLst/>
          </a:prstGeom>
          <a:noFill/>
        </p:spPr>
        <p:txBody>
          <a:bodyPr wrap="square" rtlCol="0" anchor="ctr"/>
          <a:lstStyle/>
          <a:p>
            <a:pPr marL="0" indent="0">
              <a:buNone/>
            </a:pPr>
            <a:r>
              <a:rPr lang="en-US" sz="1400" b="1" kern="0" spc="300" dirty="0">
                <a:solidFill>
                  <a:srgbClr val="9FD8CB"/>
                </a:solidFill>
                <a:latin typeface="Calibri" panose="020F0502020204030204" pitchFamily="34" charset="0"/>
                <a:ea typeface="Calibri" panose="020F0502020204030204" pitchFamily="34" charset="-122"/>
                <a:cs typeface="Calibri" panose="020F0502020204030204" pitchFamily="34" charset="-120"/>
              </a:rPr>
              <a:t>BUSINESS INTELLIGENCE</a:t>
            </a:r>
            <a:endParaRPr lang="en-US" sz="1400" dirty="0"/>
          </a:p>
        </p:txBody>
      </p:sp>
      <p:sp>
        <p:nvSpPr>
          <p:cNvPr id="7" name="Text 4"/>
          <p:cNvSpPr/>
          <p:nvPr/>
        </p:nvSpPr>
        <p:spPr>
          <a:xfrm>
            <a:off x="640080" y="1828800"/>
            <a:ext cx="9875520" cy="1554480"/>
          </a:xfrm>
          <a:prstGeom prst="rect">
            <a:avLst/>
          </a:prstGeom>
          <a:noFill/>
        </p:spPr>
        <p:txBody>
          <a:bodyPr wrap="square" rtlCol="0" anchor="ctr"/>
          <a:lstStyle/>
          <a:p>
            <a:pPr marL="0" indent="0">
              <a:lnSpc>
                <a:spcPts val="4600"/>
              </a:lnSpc>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Unlocking Business Intelligence with OLAP &amp; Data Cubes</a:t>
            </a:r>
            <a:endParaRPr lang="en-US" sz="4000" dirty="0"/>
          </a:p>
        </p:txBody>
      </p:sp>
      <p:sp>
        <p:nvSpPr>
          <p:cNvPr id="8" name="Text 5"/>
          <p:cNvSpPr/>
          <p:nvPr/>
        </p:nvSpPr>
        <p:spPr>
          <a:xfrm>
            <a:off x="640080" y="3337560"/>
            <a:ext cx="9144000" cy="548640"/>
          </a:xfrm>
          <a:prstGeom prst="rect">
            <a:avLst/>
          </a:prstGeom>
          <a:noFill/>
        </p:spPr>
        <p:txBody>
          <a:bodyPr wrap="square" rtlCol="0" anchor="ctr"/>
          <a:lstStyle/>
          <a:p>
            <a:pPr marL="0" indent="0">
              <a:buNone/>
            </a:pPr>
            <a:r>
              <a:rPr lang="en-US" sz="1900" i="1" dirty="0">
                <a:solidFill>
                  <a:srgbClr val="9FD8CB"/>
                </a:solidFill>
                <a:latin typeface="Calibri" panose="020F0502020204030204" pitchFamily="34" charset="0"/>
                <a:ea typeface="Calibri" panose="020F0502020204030204" pitchFamily="34" charset="-122"/>
                <a:cs typeface="Calibri" panose="020F0502020204030204" pitchFamily="34" charset="-120"/>
              </a:rPr>
              <a:t>From Raw Data to Smarter Business Decisions</a:t>
            </a:r>
            <a:endParaRPr lang="en-US" sz="1900" dirty="0"/>
          </a:p>
        </p:txBody>
      </p:sp>
      <p:sp>
        <p:nvSpPr>
          <p:cNvPr id="9" name="Shape 6"/>
          <p:cNvSpPr/>
          <p:nvPr/>
        </p:nvSpPr>
        <p:spPr>
          <a:xfrm>
            <a:off x="640080" y="4114800"/>
            <a:ext cx="7863840" cy="868680"/>
          </a:xfrm>
          <a:prstGeom prst="roundRect">
            <a:avLst>
              <a:gd name="adj" fmla="val 8421"/>
            </a:avLst>
          </a:prstGeom>
          <a:solidFill>
            <a:srgbClr val="065A82">
              <a:alpha val="75000"/>
            </a:srgbClr>
          </a:solidFill>
          <a:ln w="12700">
            <a:solidFill>
              <a:srgbClr val="1C7293"/>
            </a:solidFill>
            <a:prstDash val="solid"/>
          </a:ln>
        </p:spPr>
      </p:sp>
      <p:sp>
        <p:nvSpPr>
          <p:cNvPr id="10" name="Text 7"/>
          <p:cNvSpPr/>
          <p:nvPr/>
        </p:nvSpPr>
        <p:spPr>
          <a:xfrm>
            <a:off x="868680" y="4114800"/>
            <a:ext cx="7406640" cy="868680"/>
          </a:xfrm>
          <a:prstGeom prst="rect">
            <a:avLst/>
          </a:prstGeom>
          <a:noFill/>
        </p:spPr>
        <p:txBody>
          <a:bodyPr wrap="square" rtlCol="0" anchor="ctr"/>
          <a:lstStyle/>
          <a:p>
            <a:pPr marL="0" indent="0">
              <a:buNone/>
            </a:pPr>
            <a:r>
              <a:rPr lang="en-US" sz="2200" b="1" dirty="0">
                <a:solidFill>
                  <a:srgbClr val="9FD8CB"/>
                </a:solidFill>
                <a:latin typeface="Calibri" panose="020F0502020204030204" pitchFamily="34" charset="0"/>
                <a:ea typeface="Calibri" panose="020F0502020204030204" pitchFamily="34" charset="-122"/>
                <a:cs typeface="Calibri" panose="020F0502020204030204" pitchFamily="34" charset="-120"/>
              </a:rPr>
              <a:t>“</a:t>
            </a:r>
            <a:r>
              <a:rPr lang="en-US" sz="1600" i="1" dirty="0">
                <a:solidFill>
                  <a:srgbClr val="FFFFFF"/>
                </a:solidFill>
                <a:latin typeface="Calibri" panose="020F0502020204030204" pitchFamily="34" charset="0"/>
                <a:ea typeface="Calibri" panose="020F0502020204030204" pitchFamily="34" charset="-122"/>
                <a:cs typeface="Calibri" panose="020F0502020204030204" pitchFamily="34" charset="-120"/>
              </a:rPr>
              <a:t>How does Netflix recommend your next movie in seconds?</a:t>
            </a:r>
            <a:r>
              <a:rPr lang="en-US" sz="2200" b="1" dirty="0">
                <a:solidFill>
                  <a:srgbClr val="9FD8CB"/>
                </a:solidFill>
                <a:latin typeface="Calibri" panose="020F0502020204030204" pitchFamily="34" charset="0"/>
                <a:ea typeface="Calibri" panose="020F0502020204030204" pitchFamily="34" charset="-122"/>
                <a:cs typeface="Calibri" panose="020F0502020204030204" pitchFamily="34" charset="-120"/>
              </a:rPr>
              <a:t>”</a:t>
            </a:r>
            <a:endParaRPr lang="en-US" sz="2200" dirty="0"/>
          </a:p>
        </p:txBody>
      </p:sp>
      <p:sp>
        <p:nvSpPr>
          <p:cNvPr id="11" name="Text 8"/>
          <p:cNvSpPr/>
          <p:nvPr/>
        </p:nvSpPr>
        <p:spPr>
          <a:xfrm>
            <a:off x="640080" y="5166360"/>
            <a:ext cx="8595360" cy="1051560"/>
          </a:xfrm>
          <a:prstGeom prst="rect">
            <a:avLst/>
          </a:prstGeom>
          <a:noFill/>
        </p:spPr>
        <p:txBody>
          <a:bodyPr wrap="square" rtlCol="0" anchor="ctr"/>
          <a:lstStyle/>
          <a:p>
            <a:pPr marL="0" indent="0">
              <a:lnSpc>
                <a:spcPts val="1700"/>
              </a:lnSpc>
              <a:buNone/>
            </a:pPr>
            <a:r>
              <a:rPr lang="en-US" sz="1250" dirty="0">
                <a:solidFill>
                  <a:srgbClr val="9FD8CB"/>
                </a:solidFill>
                <a:latin typeface="Calibri" panose="020F0502020204030204" pitchFamily="34" charset="0"/>
                <a:ea typeface="Calibri" panose="020F0502020204030204" pitchFamily="34" charset="-122"/>
                <a:cs typeface="Calibri" panose="020F0502020204030204" pitchFamily="34" charset="-120"/>
              </a:rPr>
              <a:t>Every second, companies collect massive amounts of customer data. Business Intelligence (BI) transforms this raw data into meaningful insights, while OLAP (Online Analytical Processing) helps organizations analyze data quickly from different perspectives to make smarter business decisions.</a:t>
            </a:r>
            <a:endParaRPr lang="en-US" sz="1250" dirty="0"/>
          </a:p>
        </p:txBody>
      </p:sp>
      <p:sp>
        <p:nvSpPr>
          <p:cNvPr id="12" name="Text 9"/>
          <p:cNvSpPr/>
          <p:nvPr/>
        </p:nvSpPr>
        <p:spPr>
          <a:xfrm>
            <a:off x="640080" y="6355080"/>
            <a:ext cx="5486400" cy="320040"/>
          </a:xfrm>
          <a:prstGeom prst="rect">
            <a:avLst/>
          </a:prstGeom>
          <a:noFill/>
        </p:spPr>
        <p:txBody>
          <a:bodyPr wrap="square" rtlCol="0" anchor="ctr"/>
          <a:lstStyle/>
          <a:p>
            <a:pPr marL="0" indent="0">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Presented </a:t>
            </a:r>
            <a:r>
              <a:rPr lang="en-IN" alt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B</a:t>
            </a: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y: </a:t>
            </a:r>
            <a:r>
              <a:rPr lang="en-IN" alt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N Harshith</a:t>
            </a:r>
            <a:endParaRPr lang="en-IN" alt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365760"/>
            <a:ext cx="10972800" cy="548640"/>
          </a:xfrm>
          <a:prstGeom prst="rect">
            <a:avLst/>
          </a:prstGeom>
          <a:noFill/>
        </p:spPr>
        <p:txBody>
          <a:bodyPr wrap="square" rtlCol="0" anchor="ctr"/>
          <a:lstStyle/>
          <a:p>
            <a:pPr marL="0" indent="0">
              <a:buNone/>
            </a:pPr>
            <a:r>
              <a:rPr lang="en-US" sz="3000" b="1" dirty="0">
                <a:solidFill>
                  <a:srgbClr val="21295C"/>
                </a:solidFill>
                <a:latin typeface="Cambria" panose="02040503050406030204" pitchFamily="34" charset="0"/>
                <a:ea typeface="Cambria" panose="02040503050406030204" pitchFamily="34" charset="-122"/>
                <a:cs typeface="Cambria" panose="02040503050406030204" pitchFamily="34" charset="-120"/>
              </a:rPr>
              <a:t>The Problem: Why Do We Need OLAP?</a:t>
            </a:r>
            <a:endParaRPr lang="en-US" sz="3000" dirty="0"/>
          </a:p>
        </p:txBody>
      </p:sp>
      <p:sp>
        <p:nvSpPr>
          <p:cNvPr id="3" name="Shape 1"/>
          <p:cNvSpPr/>
          <p:nvPr/>
        </p:nvSpPr>
        <p:spPr>
          <a:xfrm>
            <a:off x="548640" y="1143000"/>
            <a:ext cx="6035040" cy="5120640"/>
          </a:xfrm>
          <a:prstGeom prst="roundRect">
            <a:avLst>
              <a:gd name="adj" fmla="val 1786"/>
            </a:avLst>
          </a:prstGeom>
          <a:solidFill>
            <a:srgbClr val="FFFFFF"/>
          </a:solidFill>
          <a:ln w="12700">
            <a:solidFill>
              <a:srgbClr val="E1E8EC"/>
            </a:solidFill>
            <a:prstDash val="solid"/>
          </a:ln>
          <a:effectLst>
            <a:outerShdw blurRad="101600" dist="38100" dir="5400000" algn="bl" rotWithShape="0">
              <a:srgbClr val="365163">
                <a:alpha val="18000"/>
              </a:srgbClr>
            </a:outerShdw>
          </a:effectLst>
        </p:spPr>
      </p:sp>
      <p:sp>
        <p:nvSpPr>
          <p:cNvPr id="4" name="Text 2"/>
          <p:cNvSpPr/>
          <p:nvPr/>
        </p:nvSpPr>
        <p:spPr>
          <a:xfrm>
            <a:off x="868680" y="1371600"/>
            <a:ext cx="5486400" cy="274320"/>
          </a:xfrm>
          <a:prstGeom prst="rect">
            <a:avLst/>
          </a:prstGeom>
          <a:noFill/>
        </p:spPr>
        <p:txBody>
          <a:bodyPr wrap="square" rtlCol="0" anchor="ctr"/>
          <a:lstStyle/>
          <a:p>
            <a:pPr marL="0" indent="0">
              <a:buNone/>
            </a:pPr>
            <a:r>
              <a:rPr lang="en-US" sz="1200" b="1" kern="0" spc="200" dirty="0">
                <a:solidFill>
                  <a:srgbClr val="1C7293"/>
                </a:solidFill>
                <a:latin typeface="Calibri" panose="020F0502020204030204" pitchFamily="34" charset="0"/>
                <a:ea typeface="Calibri" panose="020F0502020204030204" pitchFamily="34" charset="-122"/>
                <a:cs typeface="Calibri" panose="020F0502020204030204" pitchFamily="34" charset="-120"/>
              </a:rPr>
              <a:t>REAL-LIFE SCENARIO</a:t>
            </a:r>
            <a:endParaRPr lang="en-US" sz="1200" dirty="0"/>
          </a:p>
        </p:txBody>
      </p:sp>
      <p:sp>
        <p:nvSpPr>
          <p:cNvPr id="5" name="Text 3"/>
          <p:cNvSpPr/>
          <p:nvPr/>
        </p:nvSpPr>
        <p:spPr>
          <a:xfrm>
            <a:off x="868680" y="1691640"/>
            <a:ext cx="5394960" cy="502920"/>
          </a:xfrm>
          <a:prstGeom prst="rect">
            <a:avLst/>
          </a:prstGeom>
          <a:noFill/>
        </p:spPr>
        <p:txBody>
          <a:bodyPr wrap="square" rtlCol="0" anchor="ctr"/>
          <a:lstStyle/>
          <a:p>
            <a:pPr marL="0" indent="0">
              <a:lnSpc>
                <a:spcPts val="1600"/>
              </a:lnSpc>
              <a:buNone/>
            </a:pPr>
            <a:r>
              <a:rPr lang="en-US" sz="1300" dirty="0">
                <a:solidFill>
                  <a:srgbClr val="1B2733"/>
                </a:solidFill>
                <a:latin typeface="Calibri" panose="020F0502020204030204" pitchFamily="34" charset="0"/>
                <a:ea typeface="Calibri" panose="020F0502020204030204" pitchFamily="34" charset="-122"/>
                <a:cs typeface="Calibri" panose="020F0502020204030204" pitchFamily="34" charset="-120"/>
              </a:rPr>
              <a:t>Imagine an online shopping company like Amazon. Every day it records:</a:t>
            </a:r>
            <a:endParaRPr lang="en-US" sz="1300" dirty="0"/>
          </a:p>
        </p:txBody>
      </p:sp>
      <p:sp>
        <p:nvSpPr>
          <p:cNvPr id="6" name="Shape 4"/>
          <p:cNvSpPr/>
          <p:nvPr/>
        </p:nvSpPr>
        <p:spPr>
          <a:xfrm>
            <a:off x="868680" y="2331720"/>
            <a:ext cx="502920" cy="502920"/>
          </a:xfrm>
          <a:prstGeom prst="ellipse">
            <a:avLst/>
          </a:prstGeom>
          <a:solidFill>
            <a:srgbClr val="065A82"/>
          </a:solidFill>
        </p:spPr>
      </p:sp>
      <p:pic>
        <p:nvPicPr>
          <p:cNvPr id="7" name="Image 0" descr="icons/cart.png"/>
          <p:cNvPicPr>
            <a:picLocks noChangeAspect="1"/>
          </p:cNvPicPr>
          <p:nvPr/>
        </p:nvPicPr>
        <p:blipFill>
          <a:blip r:embed="rId1"/>
          <a:stretch>
            <a:fillRect/>
          </a:stretch>
        </p:blipFill>
        <p:spPr>
          <a:xfrm>
            <a:off x="989381" y="2452421"/>
            <a:ext cx="261518" cy="261518"/>
          </a:xfrm>
          <a:prstGeom prst="rect">
            <a:avLst/>
          </a:prstGeom>
        </p:spPr>
      </p:pic>
      <p:sp>
        <p:nvSpPr>
          <p:cNvPr id="8" name="Text 5"/>
          <p:cNvSpPr/>
          <p:nvPr/>
        </p:nvSpPr>
        <p:spPr>
          <a:xfrm>
            <a:off x="1508760" y="2331720"/>
            <a:ext cx="4754880" cy="502920"/>
          </a:xfrm>
          <a:prstGeom prst="rect">
            <a:avLst/>
          </a:prstGeom>
          <a:noFill/>
        </p:spPr>
        <p:txBody>
          <a:bodyPr wrap="square" rtlCol="0" anchor="ctr"/>
          <a:lstStyle/>
          <a:p>
            <a:pPr marL="0" indent="0">
              <a:buNone/>
            </a:pPr>
            <a:r>
              <a:rPr lang="en-US" sz="1350" b="1" dirty="0">
                <a:solidFill>
                  <a:srgbClr val="1B2733"/>
                </a:solidFill>
                <a:latin typeface="Calibri" panose="020F0502020204030204" pitchFamily="34" charset="0"/>
                <a:ea typeface="Calibri" panose="020F0502020204030204" pitchFamily="34" charset="-122"/>
                <a:cs typeface="Calibri" panose="020F0502020204030204" pitchFamily="34" charset="-120"/>
              </a:rPr>
              <a:t>Over 2 million customer orders</a:t>
            </a:r>
            <a:endParaRPr lang="en-US" sz="1350" dirty="0"/>
          </a:p>
        </p:txBody>
      </p:sp>
      <p:sp>
        <p:nvSpPr>
          <p:cNvPr id="9" name="Shape 6"/>
          <p:cNvSpPr/>
          <p:nvPr/>
        </p:nvSpPr>
        <p:spPr>
          <a:xfrm>
            <a:off x="868680" y="2990088"/>
            <a:ext cx="502920" cy="502920"/>
          </a:xfrm>
          <a:prstGeom prst="ellipse">
            <a:avLst/>
          </a:prstGeom>
          <a:solidFill>
            <a:srgbClr val="065A82"/>
          </a:solidFill>
        </p:spPr>
      </p:sp>
      <p:pic>
        <p:nvPicPr>
          <p:cNvPr id="10" name="Image 1" descr="icons/boxes.png"/>
          <p:cNvPicPr>
            <a:picLocks noChangeAspect="1"/>
          </p:cNvPicPr>
          <p:nvPr/>
        </p:nvPicPr>
        <p:blipFill>
          <a:blip r:embed="rId2"/>
          <a:stretch>
            <a:fillRect/>
          </a:stretch>
        </p:blipFill>
        <p:spPr>
          <a:xfrm>
            <a:off x="989381" y="3110789"/>
            <a:ext cx="261518" cy="261518"/>
          </a:xfrm>
          <a:prstGeom prst="rect">
            <a:avLst/>
          </a:prstGeom>
        </p:spPr>
      </p:pic>
      <p:sp>
        <p:nvSpPr>
          <p:cNvPr id="11" name="Text 7"/>
          <p:cNvSpPr/>
          <p:nvPr/>
        </p:nvSpPr>
        <p:spPr>
          <a:xfrm>
            <a:off x="1508760" y="2990088"/>
            <a:ext cx="4754880" cy="502920"/>
          </a:xfrm>
          <a:prstGeom prst="rect">
            <a:avLst/>
          </a:prstGeom>
          <a:noFill/>
        </p:spPr>
        <p:txBody>
          <a:bodyPr wrap="square" rtlCol="0" anchor="ctr"/>
          <a:lstStyle/>
          <a:p>
            <a:pPr marL="0" indent="0">
              <a:buNone/>
            </a:pPr>
            <a:r>
              <a:rPr lang="en-US" sz="1350" b="1" dirty="0">
                <a:solidFill>
                  <a:srgbClr val="1B2733"/>
                </a:solidFill>
                <a:latin typeface="Calibri" panose="020F0502020204030204" pitchFamily="34" charset="0"/>
                <a:ea typeface="Calibri" panose="020F0502020204030204" pitchFamily="34" charset="-122"/>
                <a:cs typeface="Calibri" panose="020F0502020204030204" pitchFamily="34" charset="-120"/>
              </a:rPr>
              <a:t>Thousands of products</a:t>
            </a:r>
            <a:endParaRPr lang="en-US" sz="1350" dirty="0"/>
          </a:p>
        </p:txBody>
      </p:sp>
      <p:sp>
        <p:nvSpPr>
          <p:cNvPr id="12" name="Shape 8"/>
          <p:cNvSpPr/>
          <p:nvPr/>
        </p:nvSpPr>
        <p:spPr>
          <a:xfrm>
            <a:off x="868680" y="3648456"/>
            <a:ext cx="502920" cy="502920"/>
          </a:xfrm>
          <a:prstGeom prst="ellipse">
            <a:avLst/>
          </a:prstGeom>
          <a:solidFill>
            <a:srgbClr val="065A82"/>
          </a:solidFill>
        </p:spPr>
      </p:sp>
      <p:pic>
        <p:nvPicPr>
          <p:cNvPr id="13" name="Image 2" descr="icons/map.png"/>
          <p:cNvPicPr>
            <a:picLocks noChangeAspect="1"/>
          </p:cNvPicPr>
          <p:nvPr/>
        </p:nvPicPr>
        <p:blipFill>
          <a:blip r:embed="rId3"/>
          <a:stretch>
            <a:fillRect/>
          </a:stretch>
        </p:blipFill>
        <p:spPr>
          <a:xfrm>
            <a:off x="989381" y="3769157"/>
            <a:ext cx="261518" cy="261518"/>
          </a:xfrm>
          <a:prstGeom prst="rect">
            <a:avLst/>
          </a:prstGeom>
        </p:spPr>
      </p:pic>
      <p:sp>
        <p:nvSpPr>
          <p:cNvPr id="14" name="Text 9"/>
          <p:cNvSpPr/>
          <p:nvPr/>
        </p:nvSpPr>
        <p:spPr>
          <a:xfrm>
            <a:off x="1508760" y="3648456"/>
            <a:ext cx="4754880" cy="502920"/>
          </a:xfrm>
          <a:prstGeom prst="rect">
            <a:avLst/>
          </a:prstGeom>
          <a:noFill/>
        </p:spPr>
        <p:txBody>
          <a:bodyPr wrap="square" rtlCol="0" anchor="ctr"/>
          <a:lstStyle/>
          <a:p>
            <a:pPr marL="0" indent="0">
              <a:buNone/>
            </a:pPr>
            <a:r>
              <a:rPr lang="en-US" sz="1350" b="1" dirty="0">
                <a:solidFill>
                  <a:srgbClr val="1B2733"/>
                </a:solidFill>
                <a:latin typeface="Calibri" panose="020F0502020204030204" pitchFamily="34" charset="0"/>
                <a:ea typeface="Calibri" panose="020F0502020204030204" pitchFamily="34" charset="-122"/>
                <a:cs typeface="Calibri" panose="020F0502020204030204" pitchFamily="34" charset="-120"/>
              </a:rPr>
              <a:t>Sales from hundreds of cities</a:t>
            </a:r>
            <a:endParaRPr lang="en-US" sz="1350" dirty="0"/>
          </a:p>
        </p:txBody>
      </p:sp>
      <p:sp>
        <p:nvSpPr>
          <p:cNvPr id="15" name="Shape 10"/>
          <p:cNvSpPr/>
          <p:nvPr/>
        </p:nvSpPr>
        <p:spPr>
          <a:xfrm>
            <a:off x="868680" y="4306824"/>
            <a:ext cx="502920" cy="502920"/>
          </a:xfrm>
          <a:prstGeom prst="ellipse">
            <a:avLst/>
          </a:prstGeom>
          <a:solidFill>
            <a:srgbClr val="065A82"/>
          </a:solidFill>
        </p:spPr>
      </p:sp>
      <p:pic>
        <p:nvPicPr>
          <p:cNvPr id="16" name="Image 3" descr="icons/chartline.png"/>
          <p:cNvPicPr>
            <a:picLocks noChangeAspect="1"/>
          </p:cNvPicPr>
          <p:nvPr/>
        </p:nvPicPr>
        <p:blipFill>
          <a:blip r:embed="rId4"/>
          <a:stretch>
            <a:fillRect/>
          </a:stretch>
        </p:blipFill>
        <p:spPr>
          <a:xfrm>
            <a:off x="989381" y="4427525"/>
            <a:ext cx="261518" cy="261518"/>
          </a:xfrm>
          <a:prstGeom prst="rect">
            <a:avLst/>
          </a:prstGeom>
        </p:spPr>
      </p:pic>
      <p:sp>
        <p:nvSpPr>
          <p:cNvPr id="17" name="Text 11"/>
          <p:cNvSpPr/>
          <p:nvPr/>
        </p:nvSpPr>
        <p:spPr>
          <a:xfrm>
            <a:off x="1508760" y="4306824"/>
            <a:ext cx="4754880" cy="502920"/>
          </a:xfrm>
          <a:prstGeom prst="rect">
            <a:avLst/>
          </a:prstGeom>
          <a:noFill/>
        </p:spPr>
        <p:txBody>
          <a:bodyPr wrap="square" rtlCol="0" anchor="ctr"/>
          <a:lstStyle/>
          <a:p>
            <a:pPr marL="0" indent="0">
              <a:buNone/>
            </a:pPr>
            <a:r>
              <a:rPr lang="en-US" sz="1350" b="1" dirty="0">
                <a:solidFill>
                  <a:srgbClr val="1B2733"/>
                </a:solidFill>
                <a:latin typeface="Calibri" panose="020F0502020204030204" pitchFamily="34" charset="0"/>
                <a:ea typeface="Calibri" panose="020F0502020204030204" pitchFamily="34" charset="-122"/>
                <a:cs typeface="Calibri" panose="020F0502020204030204" pitchFamily="34" charset="-120"/>
              </a:rPr>
              <a:t>Millions of customer interactions</a:t>
            </a:r>
            <a:endParaRPr lang="en-US" sz="1350" dirty="0"/>
          </a:p>
        </p:txBody>
      </p:sp>
      <p:sp>
        <p:nvSpPr>
          <p:cNvPr id="18" name="Text 12"/>
          <p:cNvSpPr/>
          <p:nvPr/>
        </p:nvSpPr>
        <p:spPr>
          <a:xfrm>
            <a:off x="868680" y="5010912"/>
            <a:ext cx="5394960" cy="274320"/>
          </a:xfrm>
          <a:prstGeom prst="rect">
            <a:avLst/>
          </a:prstGeom>
          <a:noFill/>
        </p:spPr>
        <p:txBody>
          <a:bodyPr wrap="square" rtlCol="0" anchor="ctr"/>
          <a:lstStyle/>
          <a:p>
            <a:pPr marL="0" indent="0">
              <a:buNone/>
            </a:pPr>
            <a:r>
              <a:rPr lang="en-US" sz="1250" b="1" dirty="0">
                <a:solidFill>
                  <a:srgbClr val="21295C"/>
                </a:solidFill>
                <a:latin typeface="Calibri" panose="020F0502020204030204" pitchFamily="34" charset="0"/>
                <a:ea typeface="Calibri" panose="020F0502020204030204" pitchFamily="34" charset="-122"/>
                <a:cs typeface="Calibri" panose="020F0502020204030204" pitchFamily="34" charset="-120"/>
              </a:rPr>
              <a:t>Managers need answers such as:</a:t>
            </a:r>
            <a:endParaRPr lang="en-US" sz="1250" dirty="0"/>
          </a:p>
        </p:txBody>
      </p:sp>
      <p:sp>
        <p:nvSpPr>
          <p:cNvPr id="19" name="Text 13"/>
          <p:cNvSpPr/>
          <p:nvPr/>
        </p:nvSpPr>
        <p:spPr>
          <a:xfrm>
            <a:off x="1005840" y="5285232"/>
            <a:ext cx="5303520" cy="777240"/>
          </a:xfrm>
          <a:prstGeom prst="rect">
            <a:avLst/>
          </a:prstGeom>
          <a:noFill/>
        </p:spPr>
        <p:txBody>
          <a:bodyPr wrap="square" rtlCol="0" anchor="ctr"/>
          <a:lstStyle/>
          <a:p>
            <a:pPr marL="342900" indent="-342900">
              <a:lnSpc>
                <a:spcPts val="1500"/>
              </a:lnSpc>
              <a:spcAft>
                <a:spcPts val="400"/>
              </a:spcAft>
              <a:buSzPct val="100000"/>
              <a:buChar char="•"/>
            </a:pPr>
            <a:r>
              <a:rPr lang="en-US" sz="1200" dirty="0">
                <a:solidFill>
                  <a:srgbClr val="5A6B75"/>
                </a:solidFill>
                <a:latin typeface="Calibri" panose="020F0502020204030204" pitchFamily="34" charset="0"/>
                <a:ea typeface="Calibri" panose="020F0502020204030204" pitchFamily="34" charset="-122"/>
                <a:cs typeface="Calibri" panose="020F0502020204030204" pitchFamily="34" charset="-120"/>
              </a:rPr>
              <a:t>Which product sold the most?</a:t>
            </a:r>
            <a:endParaRPr lang="en-US" sz="1200" dirty="0"/>
          </a:p>
          <a:p>
            <a:pPr marL="342900" indent="-342900">
              <a:lnSpc>
                <a:spcPts val="1500"/>
              </a:lnSpc>
              <a:spcAft>
                <a:spcPts val="400"/>
              </a:spcAft>
              <a:buSzPct val="100000"/>
              <a:buChar char="•"/>
            </a:pPr>
            <a:r>
              <a:rPr lang="en-US" sz="1200" dirty="0">
                <a:solidFill>
                  <a:srgbClr val="5A6B75"/>
                </a:solidFill>
                <a:latin typeface="Calibri" panose="020F0502020204030204" pitchFamily="34" charset="0"/>
                <a:ea typeface="Calibri" panose="020F0502020204030204" pitchFamily="34" charset="-122"/>
                <a:cs typeface="Calibri" panose="020F0502020204030204" pitchFamily="34" charset="-120"/>
              </a:rPr>
              <a:t>Which city generated the highest revenue?</a:t>
            </a:r>
            <a:endParaRPr lang="en-US" sz="1200" dirty="0"/>
          </a:p>
          <a:p>
            <a:pPr marL="342900" indent="-342900">
              <a:lnSpc>
                <a:spcPts val="1500"/>
              </a:lnSpc>
              <a:spcAft>
                <a:spcPts val="400"/>
              </a:spcAft>
              <a:buSzPct val="100000"/>
              <a:buChar char="•"/>
            </a:pPr>
            <a:r>
              <a:rPr lang="en-US" sz="1200" dirty="0">
                <a:solidFill>
                  <a:srgbClr val="5A6B75"/>
                </a:solidFill>
                <a:latin typeface="Calibri" panose="020F0502020204030204" pitchFamily="34" charset="0"/>
                <a:ea typeface="Calibri" panose="020F0502020204030204" pitchFamily="34" charset="-122"/>
                <a:cs typeface="Calibri" panose="020F0502020204030204" pitchFamily="34" charset="-120"/>
              </a:rPr>
              <a:t>Why did sales decrease this month?</a:t>
            </a:r>
            <a:endParaRPr lang="en-US" sz="1200" dirty="0"/>
          </a:p>
        </p:txBody>
      </p:sp>
      <p:sp>
        <p:nvSpPr>
          <p:cNvPr id="20" name="Shape 14"/>
          <p:cNvSpPr/>
          <p:nvPr/>
        </p:nvSpPr>
        <p:spPr>
          <a:xfrm>
            <a:off x="6858000" y="1143000"/>
            <a:ext cx="4754880" cy="2331720"/>
          </a:xfrm>
          <a:prstGeom prst="roundRect">
            <a:avLst>
              <a:gd name="adj" fmla="val 3922"/>
            </a:avLst>
          </a:prstGeom>
          <a:solidFill>
            <a:srgbClr val="21295C"/>
          </a:solidFill>
        </p:spPr>
      </p:sp>
      <p:sp>
        <p:nvSpPr>
          <p:cNvPr id="21" name="Shape 15"/>
          <p:cNvSpPr/>
          <p:nvPr/>
        </p:nvSpPr>
        <p:spPr>
          <a:xfrm>
            <a:off x="7132320" y="1417320"/>
            <a:ext cx="548640" cy="548640"/>
          </a:xfrm>
          <a:prstGeom prst="ellipse">
            <a:avLst/>
          </a:prstGeom>
          <a:solidFill>
            <a:srgbClr val="1C7293"/>
          </a:solidFill>
        </p:spPr>
      </p:sp>
      <p:pic>
        <p:nvPicPr>
          <p:cNvPr id="22" name="Image 4" descr="icons/bolt.png"/>
          <p:cNvPicPr>
            <a:picLocks noChangeAspect="1"/>
          </p:cNvPicPr>
          <p:nvPr/>
        </p:nvPicPr>
        <p:blipFill>
          <a:blip r:embed="rId5"/>
          <a:stretch>
            <a:fillRect/>
          </a:stretch>
        </p:blipFill>
        <p:spPr>
          <a:xfrm>
            <a:off x="7263994" y="1548994"/>
            <a:ext cx="285293" cy="285293"/>
          </a:xfrm>
          <a:prstGeom prst="rect">
            <a:avLst/>
          </a:prstGeom>
        </p:spPr>
      </p:pic>
      <p:sp>
        <p:nvSpPr>
          <p:cNvPr id="23" name="Text 16"/>
          <p:cNvSpPr/>
          <p:nvPr/>
        </p:nvSpPr>
        <p:spPr>
          <a:xfrm>
            <a:off x="7818120" y="1417320"/>
            <a:ext cx="3657600" cy="274320"/>
          </a:xfrm>
          <a:prstGeom prst="rect">
            <a:avLst/>
          </a:prstGeom>
          <a:noFill/>
        </p:spPr>
        <p:txBody>
          <a:bodyPr wrap="square" rtlCol="0" anchor="ctr"/>
          <a:lstStyle/>
          <a:p>
            <a:pPr marL="0" indent="0">
              <a:buNone/>
            </a:pPr>
            <a:r>
              <a:rPr lang="en-US" sz="1200" b="1" kern="0" spc="200" dirty="0">
                <a:solidFill>
                  <a:srgbClr val="9FD8CB"/>
                </a:solidFill>
                <a:latin typeface="Calibri" panose="020F0502020204030204" pitchFamily="34" charset="0"/>
                <a:ea typeface="Calibri" panose="020F0502020204030204" pitchFamily="34" charset="-122"/>
                <a:cs typeface="Calibri" panose="020F0502020204030204" pitchFamily="34" charset="-120"/>
              </a:rPr>
              <a:t>SOLUTION</a:t>
            </a:r>
            <a:endParaRPr lang="en-US" sz="1200" dirty="0"/>
          </a:p>
        </p:txBody>
      </p:sp>
      <p:sp>
        <p:nvSpPr>
          <p:cNvPr id="24" name="Text 17"/>
          <p:cNvSpPr/>
          <p:nvPr/>
        </p:nvSpPr>
        <p:spPr>
          <a:xfrm>
            <a:off x="7132320" y="1965960"/>
            <a:ext cx="4206240" cy="1371600"/>
          </a:xfrm>
          <a:prstGeom prst="rect">
            <a:avLst/>
          </a:prstGeom>
          <a:noFill/>
        </p:spPr>
        <p:txBody>
          <a:bodyPr wrap="square" rtlCol="0" anchor="ctr"/>
          <a:lstStyle/>
          <a:p>
            <a:pPr marL="0" indent="0">
              <a:lnSpc>
                <a:spcPts val="1900"/>
              </a:lnSpc>
              <a:buNone/>
            </a:pPr>
            <a:r>
              <a:rPr lang="en-US" sz="1450" dirty="0">
                <a:solidFill>
                  <a:srgbClr val="FFFFFF"/>
                </a:solidFill>
                <a:latin typeface="Calibri" panose="020F0502020204030204" pitchFamily="34" charset="0"/>
                <a:ea typeface="Calibri" panose="020F0502020204030204" pitchFamily="34" charset="-122"/>
                <a:cs typeface="Calibri" panose="020F0502020204030204" pitchFamily="34" charset="-120"/>
              </a:rPr>
              <a:t>OLAP allows businesses to analyze huge volumes of data in seconds, making faster and smarter decisions.</a:t>
            </a:r>
            <a:endParaRPr lang="en-US" sz="1450" dirty="0"/>
          </a:p>
        </p:txBody>
      </p:sp>
      <p:sp>
        <p:nvSpPr>
          <p:cNvPr id="28" name="Text 20"/>
          <p:cNvSpPr/>
          <p:nvPr/>
        </p:nvSpPr>
        <p:spPr>
          <a:xfrm>
            <a:off x="7818120" y="3977640"/>
            <a:ext cx="3657600" cy="274320"/>
          </a:xfrm>
          <a:prstGeom prst="rect">
            <a:avLst/>
          </a:prstGeom>
          <a:noFill/>
        </p:spPr>
        <p:txBody>
          <a:bodyPr wrap="square" rtlCol="0" anchor="ctr"/>
          <a:lstStyle/>
          <a:p>
            <a:pPr marL="0" indent="0">
              <a:buNone/>
            </a:pPr>
            <a:endParaRPr lang="en-US" sz="1200" dirty="0"/>
          </a:p>
        </p:txBody>
      </p:sp>
      <p:sp>
        <p:nvSpPr>
          <p:cNvPr id="29" name="Text 21"/>
          <p:cNvSpPr/>
          <p:nvPr/>
        </p:nvSpPr>
        <p:spPr>
          <a:xfrm>
            <a:off x="7132320" y="4526280"/>
            <a:ext cx="4206240" cy="1554480"/>
          </a:xfrm>
          <a:prstGeom prst="rect">
            <a:avLst/>
          </a:prstGeom>
          <a:noFill/>
        </p:spPr>
        <p:txBody>
          <a:bodyPr wrap="square" rtlCol="0" anchor="ctr"/>
          <a:lstStyle/>
          <a:p>
            <a:pPr marL="0" indent="0">
              <a:lnSpc>
                <a:spcPts val="2000"/>
              </a:lnSpc>
              <a:buNone/>
            </a:pP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365760"/>
            <a:ext cx="7315200" cy="548640"/>
          </a:xfrm>
          <a:prstGeom prst="rect">
            <a:avLst/>
          </a:prstGeom>
          <a:noFill/>
        </p:spPr>
        <p:txBody>
          <a:bodyPr wrap="square" rtlCol="0" anchor="ctr"/>
          <a:lstStyle/>
          <a:p>
            <a:pPr marL="0" indent="0">
              <a:buNone/>
            </a:pPr>
            <a:r>
              <a:rPr lang="en-US" sz="3000" b="1" dirty="0">
                <a:solidFill>
                  <a:srgbClr val="21295C"/>
                </a:solidFill>
                <a:latin typeface="Cambria" panose="02040503050406030204" pitchFamily="34" charset="0"/>
                <a:ea typeface="Cambria" panose="02040503050406030204" pitchFamily="34" charset="-122"/>
                <a:cs typeface="Cambria" panose="02040503050406030204" pitchFamily="34" charset="-120"/>
              </a:rPr>
              <a:t>What is OLAP?</a:t>
            </a:r>
            <a:endParaRPr lang="en-US" sz="3000" dirty="0"/>
          </a:p>
        </p:txBody>
      </p:sp>
      <p:sp>
        <p:nvSpPr>
          <p:cNvPr id="3" name="Shape 1"/>
          <p:cNvSpPr/>
          <p:nvPr/>
        </p:nvSpPr>
        <p:spPr>
          <a:xfrm>
            <a:off x="548640" y="1097280"/>
            <a:ext cx="11064240" cy="1051560"/>
          </a:xfrm>
          <a:prstGeom prst="roundRect">
            <a:avLst>
              <a:gd name="adj" fmla="val 6957"/>
            </a:avLst>
          </a:prstGeom>
          <a:solidFill>
            <a:srgbClr val="065A82"/>
          </a:solidFill>
        </p:spPr>
      </p:sp>
      <p:sp>
        <p:nvSpPr>
          <p:cNvPr id="4" name="Text 2"/>
          <p:cNvSpPr/>
          <p:nvPr/>
        </p:nvSpPr>
        <p:spPr>
          <a:xfrm>
            <a:off x="868680" y="1097280"/>
            <a:ext cx="10424160" cy="1051560"/>
          </a:xfrm>
          <a:prstGeom prst="rect">
            <a:avLst/>
          </a:prstGeom>
          <a:noFill/>
        </p:spPr>
        <p:txBody>
          <a:bodyPr wrap="square" rtlCol="0" anchor="ctr"/>
          <a:lstStyle/>
          <a:p>
            <a:pPr marL="0" indent="0">
              <a:lnSpc>
                <a:spcPts val="1900"/>
              </a:lnSpc>
              <a:buNone/>
            </a:pPr>
            <a:r>
              <a:rPr lang="en-US" sz="1400" b="1" dirty="0">
                <a:solidFill>
                  <a:srgbClr val="9FD8CB"/>
                </a:solidFill>
                <a:latin typeface="Calibri" panose="020F0502020204030204" pitchFamily="34" charset="0"/>
                <a:ea typeface="Calibri" panose="020F0502020204030204" pitchFamily="34" charset="-122"/>
                <a:cs typeface="Calibri" panose="020F0502020204030204" pitchFamily="34" charset="-120"/>
              </a:rPr>
              <a:t>OLAP (Online Analytical Processing)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is a Business Intelligence technology that enables users to analyze data across multiple dimensions such as Product, Time, Region, and Customer.</a:t>
            </a:r>
            <a:endParaRPr lang="en-US" sz="1400" dirty="0"/>
          </a:p>
        </p:txBody>
      </p:sp>
      <p:sp>
        <p:nvSpPr>
          <p:cNvPr id="5" name="Text 3"/>
          <p:cNvSpPr/>
          <p:nvPr/>
        </p:nvSpPr>
        <p:spPr>
          <a:xfrm>
            <a:off x="548640" y="2377440"/>
            <a:ext cx="3657600" cy="274320"/>
          </a:xfrm>
          <a:prstGeom prst="rect">
            <a:avLst/>
          </a:prstGeom>
          <a:noFill/>
        </p:spPr>
        <p:txBody>
          <a:bodyPr wrap="square" rtlCol="0" anchor="ctr"/>
          <a:lstStyle/>
          <a:p>
            <a:pPr marL="0" indent="0">
              <a:buNone/>
            </a:pPr>
            <a:r>
              <a:rPr lang="en-US" sz="1200" b="1" kern="0" spc="150" dirty="0">
                <a:solidFill>
                  <a:srgbClr val="1C7293"/>
                </a:solidFill>
                <a:latin typeface="Calibri" panose="020F0502020204030204" pitchFamily="34" charset="0"/>
                <a:ea typeface="Calibri" panose="020F0502020204030204" pitchFamily="34" charset="-122"/>
                <a:cs typeface="Calibri" panose="020F0502020204030204" pitchFamily="34" charset="-120"/>
              </a:rPr>
              <a:t>THINK OF A RUBIK'S CUBE</a:t>
            </a:r>
            <a:endParaRPr lang="en-US" sz="1200" dirty="0"/>
          </a:p>
        </p:txBody>
      </p:sp>
      <p:sp>
        <p:nvSpPr>
          <p:cNvPr id="6" name="Shape 4"/>
          <p:cNvSpPr/>
          <p:nvPr/>
        </p:nvSpPr>
        <p:spPr>
          <a:xfrm>
            <a:off x="685800" y="2788920"/>
            <a:ext cx="502920" cy="502920"/>
          </a:xfrm>
          <a:prstGeom prst="rect">
            <a:avLst/>
          </a:prstGeom>
          <a:solidFill>
            <a:srgbClr val="065A82"/>
          </a:solidFill>
          <a:ln w="19050">
            <a:solidFill>
              <a:srgbClr val="FFFFFF"/>
            </a:solidFill>
            <a:prstDash val="solid"/>
          </a:ln>
        </p:spPr>
      </p:sp>
      <p:sp>
        <p:nvSpPr>
          <p:cNvPr id="7" name="Shape 5"/>
          <p:cNvSpPr/>
          <p:nvPr/>
        </p:nvSpPr>
        <p:spPr>
          <a:xfrm>
            <a:off x="1243584" y="2788920"/>
            <a:ext cx="502920" cy="502920"/>
          </a:xfrm>
          <a:prstGeom prst="rect">
            <a:avLst/>
          </a:prstGeom>
          <a:solidFill>
            <a:srgbClr val="1C7293"/>
          </a:solidFill>
          <a:ln w="19050">
            <a:solidFill>
              <a:srgbClr val="FFFFFF"/>
            </a:solidFill>
            <a:prstDash val="solid"/>
          </a:ln>
        </p:spPr>
      </p:sp>
      <p:sp>
        <p:nvSpPr>
          <p:cNvPr id="8" name="Shape 6"/>
          <p:cNvSpPr/>
          <p:nvPr/>
        </p:nvSpPr>
        <p:spPr>
          <a:xfrm>
            <a:off x="1801368" y="2788920"/>
            <a:ext cx="502920" cy="502920"/>
          </a:xfrm>
          <a:prstGeom prst="rect">
            <a:avLst/>
          </a:prstGeom>
          <a:solidFill>
            <a:srgbClr val="21295C"/>
          </a:solidFill>
          <a:ln w="19050">
            <a:solidFill>
              <a:srgbClr val="FFFFFF"/>
            </a:solidFill>
            <a:prstDash val="solid"/>
          </a:ln>
        </p:spPr>
      </p:sp>
      <p:sp>
        <p:nvSpPr>
          <p:cNvPr id="9" name="Shape 7"/>
          <p:cNvSpPr/>
          <p:nvPr/>
        </p:nvSpPr>
        <p:spPr>
          <a:xfrm>
            <a:off x="685800" y="3346704"/>
            <a:ext cx="502920" cy="502920"/>
          </a:xfrm>
          <a:prstGeom prst="rect">
            <a:avLst/>
          </a:prstGeom>
          <a:solidFill>
            <a:srgbClr val="3E8CB5"/>
          </a:solidFill>
          <a:ln w="19050">
            <a:solidFill>
              <a:srgbClr val="FFFFFF"/>
            </a:solidFill>
            <a:prstDash val="solid"/>
          </a:ln>
        </p:spPr>
      </p:sp>
      <p:sp>
        <p:nvSpPr>
          <p:cNvPr id="10" name="Shape 8"/>
          <p:cNvSpPr/>
          <p:nvPr/>
        </p:nvSpPr>
        <p:spPr>
          <a:xfrm>
            <a:off x="1243584" y="3346704"/>
            <a:ext cx="502920" cy="502920"/>
          </a:xfrm>
          <a:prstGeom prst="rect">
            <a:avLst/>
          </a:prstGeom>
          <a:solidFill>
            <a:srgbClr val="4FA6A0"/>
          </a:solidFill>
          <a:ln w="19050">
            <a:solidFill>
              <a:srgbClr val="FFFFFF"/>
            </a:solidFill>
            <a:prstDash val="solid"/>
          </a:ln>
        </p:spPr>
      </p:sp>
      <p:sp>
        <p:nvSpPr>
          <p:cNvPr id="11" name="Shape 9"/>
          <p:cNvSpPr/>
          <p:nvPr/>
        </p:nvSpPr>
        <p:spPr>
          <a:xfrm>
            <a:off x="1801368" y="3346704"/>
            <a:ext cx="502920" cy="502920"/>
          </a:xfrm>
          <a:prstGeom prst="rect">
            <a:avLst/>
          </a:prstGeom>
          <a:solidFill>
            <a:srgbClr val="16405C"/>
          </a:solidFill>
          <a:ln w="19050">
            <a:solidFill>
              <a:srgbClr val="FFFFFF"/>
            </a:solidFill>
            <a:prstDash val="solid"/>
          </a:ln>
        </p:spPr>
      </p:sp>
      <p:sp>
        <p:nvSpPr>
          <p:cNvPr id="12" name="Shape 10"/>
          <p:cNvSpPr/>
          <p:nvPr/>
        </p:nvSpPr>
        <p:spPr>
          <a:xfrm>
            <a:off x="685800" y="3904488"/>
            <a:ext cx="502920" cy="502920"/>
          </a:xfrm>
          <a:prstGeom prst="rect">
            <a:avLst/>
          </a:prstGeom>
          <a:solidFill>
            <a:srgbClr val="065A82"/>
          </a:solidFill>
          <a:ln w="19050">
            <a:solidFill>
              <a:srgbClr val="FFFFFF"/>
            </a:solidFill>
            <a:prstDash val="solid"/>
          </a:ln>
        </p:spPr>
      </p:sp>
      <p:sp>
        <p:nvSpPr>
          <p:cNvPr id="13" name="Shape 11"/>
          <p:cNvSpPr/>
          <p:nvPr/>
        </p:nvSpPr>
        <p:spPr>
          <a:xfrm>
            <a:off x="1243584" y="3904488"/>
            <a:ext cx="502920" cy="502920"/>
          </a:xfrm>
          <a:prstGeom prst="rect">
            <a:avLst/>
          </a:prstGeom>
          <a:solidFill>
            <a:srgbClr val="1C7293"/>
          </a:solidFill>
          <a:ln w="19050">
            <a:solidFill>
              <a:srgbClr val="FFFFFF"/>
            </a:solidFill>
            <a:prstDash val="solid"/>
          </a:ln>
        </p:spPr>
      </p:sp>
      <p:sp>
        <p:nvSpPr>
          <p:cNvPr id="14" name="Shape 12"/>
          <p:cNvSpPr/>
          <p:nvPr/>
        </p:nvSpPr>
        <p:spPr>
          <a:xfrm>
            <a:off x="1801368" y="3904488"/>
            <a:ext cx="502920" cy="502920"/>
          </a:xfrm>
          <a:prstGeom prst="rect">
            <a:avLst/>
          </a:prstGeom>
          <a:solidFill>
            <a:srgbClr val="21295C"/>
          </a:solidFill>
          <a:ln w="19050">
            <a:solidFill>
              <a:srgbClr val="FFFFFF"/>
            </a:solidFill>
            <a:prstDash val="solid"/>
          </a:ln>
        </p:spPr>
      </p:sp>
      <p:sp>
        <p:nvSpPr>
          <p:cNvPr id="15" name="Text 13"/>
          <p:cNvSpPr/>
          <p:nvPr/>
        </p:nvSpPr>
        <p:spPr>
          <a:xfrm>
            <a:off x="548640" y="4434840"/>
            <a:ext cx="3108960" cy="1463040"/>
          </a:xfrm>
          <a:prstGeom prst="rect">
            <a:avLst/>
          </a:prstGeom>
          <a:noFill/>
        </p:spPr>
        <p:txBody>
          <a:bodyPr wrap="square" rtlCol="0" anchor="ctr"/>
          <a:lstStyle/>
          <a:p>
            <a:pPr marL="0" indent="0">
              <a:lnSpc>
                <a:spcPts val="1600"/>
              </a:lnSpc>
              <a:buNone/>
            </a:pPr>
            <a:r>
              <a:rPr lang="en-US" sz="1250" dirty="0">
                <a:solidFill>
                  <a:srgbClr val="1B2733"/>
                </a:solidFill>
                <a:latin typeface="Calibri" panose="020F0502020204030204" pitchFamily="34" charset="0"/>
                <a:ea typeface="Calibri" panose="020F0502020204030204" pitchFamily="34" charset="-122"/>
                <a:cs typeface="Calibri" panose="020F0502020204030204" pitchFamily="34" charset="-120"/>
              </a:rPr>
              <a:t>Just as you rotate a Rubik's Cube to see different sides, OLAP lets users view the same data from different perspectives.</a:t>
            </a:r>
            <a:endParaRPr lang="en-US" sz="1250" dirty="0"/>
          </a:p>
        </p:txBody>
      </p:sp>
      <p:sp>
        <p:nvSpPr>
          <p:cNvPr id="18" name="Shape 16"/>
          <p:cNvSpPr/>
          <p:nvPr/>
        </p:nvSpPr>
        <p:spPr>
          <a:xfrm>
            <a:off x="4114800" y="2377440"/>
            <a:ext cx="7498080" cy="713232"/>
          </a:xfrm>
          <a:prstGeom prst="roundRect">
            <a:avLst>
              <a:gd name="adj" fmla="val 8974"/>
            </a:avLst>
          </a:prstGeom>
          <a:solidFill>
            <a:srgbClr val="FFFFFF"/>
          </a:solidFill>
          <a:ln w="12700">
            <a:solidFill>
              <a:srgbClr val="E1E8EC"/>
            </a:solidFill>
            <a:prstDash val="solid"/>
          </a:ln>
        </p:spPr>
      </p:sp>
      <p:sp>
        <p:nvSpPr>
          <p:cNvPr id="19" name="Shape 17"/>
          <p:cNvSpPr/>
          <p:nvPr/>
        </p:nvSpPr>
        <p:spPr>
          <a:xfrm>
            <a:off x="4251960" y="2468880"/>
            <a:ext cx="530352" cy="530352"/>
          </a:xfrm>
          <a:prstGeom prst="ellipse">
            <a:avLst/>
          </a:prstGeom>
          <a:solidFill>
            <a:srgbClr val="1C7293"/>
          </a:solidFill>
        </p:spPr>
      </p:sp>
      <p:pic>
        <p:nvPicPr>
          <p:cNvPr id="20" name="Image 0" descr="icons/filter.png"/>
          <p:cNvPicPr>
            <a:picLocks noChangeAspect="1"/>
          </p:cNvPicPr>
          <p:nvPr/>
        </p:nvPicPr>
        <p:blipFill>
          <a:blip r:embed="rId1"/>
          <a:stretch>
            <a:fillRect/>
          </a:stretch>
        </p:blipFill>
        <p:spPr>
          <a:xfrm>
            <a:off x="4379244" y="2596164"/>
            <a:ext cx="275783" cy="275783"/>
          </a:xfrm>
          <a:prstGeom prst="rect">
            <a:avLst/>
          </a:prstGeom>
        </p:spPr>
      </p:pic>
      <p:sp>
        <p:nvSpPr>
          <p:cNvPr id="21" name="Text 18"/>
          <p:cNvSpPr/>
          <p:nvPr/>
        </p:nvSpPr>
        <p:spPr>
          <a:xfrm>
            <a:off x="4937760" y="2377440"/>
            <a:ext cx="1920240" cy="713232"/>
          </a:xfrm>
          <a:prstGeom prst="rect">
            <a:avLst/>
          </a:prstGeom>
          <a:noFill/>
        </p:spPr>
        <p:txBody>
          <a:bodyPr wrap="square" rtlCol="0" anchor="ctr"/>
          <a:lstStyle/>
          <a:p>
            <a:pPr marL="0" indent="0">
              <a:buNone/>
            </a:pPr>
            <a:r>
              <a:rPr lang="en-US" sz="1400" b="1" dirty="0">
                <a:solidFill>
                  <a:srgbClr val="21295C"/>
                </a:solidFill>
                <a:latin typeface="Calibri" panose="020F0502020204030204" pitchFamily="34" charset="0"/>
                <a:ea typeface="Calibri" panose="020F0502020204030204" pitchFamily="34" charset="-122"/>
                <a:cs typeface="Calibri" panose="020F0502020204030204" pitchFamily="34" charset="-120"/>
              </a:rPr>
              <a:t>Slice</a:t>
            </a:r>
            <a:endParaRPr lang="en-US" sz="1400" dirty="0"/>
          </a:p>
        </p:txBody>
      </p:sp>
      <p:sp>
        <p:nvSpPr>
          <p:cNvPr id="22" name="Text 19"/>
          <p:cNvSpPr/>
          <p:nvPr/>
        </p:nvSpPr>
        <p:spPr>
          <a:xfrm>
            <a:off x="6949440" y="2377440"/>
            <a:ext cx="4480560" cy="713232"/>
          </a:xfrm>
          <a:prstGeom prst="rect">
            <a:avLst/>
          </a:prstGeom>
          <a:noFill/>
        </p:spPr>
        <p:txBody>
          <a:bodyPr wrap="square" rtlCol="0" anchor="ctr"/>
          <a:lstStyle/>
          <a:p>
            <a:pPr marL="0" indent="0">
              <a:buNone/>
            </a:pPr>
            <a:r>
              <a:rPr lang="en-US" sz="1250" dirty="0">
                <a:solidFill>
                  <a:srgbClr val="5A6B75"/>
                </a:solidFill>
                <a:latin typeface="Calibri" panose="020F0502020204030204" pitchFamily="34" charset="0"/>
                <a:ea typeface="Calibri" panose="020F0502020204030204" pitchFamily="34" charset="-122"/>
                <a:cs typeface="Calibri" panose="020F0502020204030204" pitchFamily="34" charset="-120"/>
              </a:rPr>
              <a:t>View one category of data</a:t>
            </a:r>
            <a:endParaRPr lang="en-US" sz="1250" dirty="0"/>
          </a:p>
        </p:txBody>
      </p:sp>
      <p:sp>
        <p:nvSpPr>
          <p:cNvPr id="23" name="Shape 20"/>
          <p:cNvSpPr/>
          <p:nvPr/>
        </p:nvSpPr>
        <p:spPr>
          <a:xfrm>
            <a:off x="4114800" y="3218688"/>
            <a:ext cx="7498080" cy="713232"/>
          </a:xfrm>
          <a:prstGeom prst="roundRect">
            <a:avLst>
              <a:gd name="adj" fmla="val 8974"/>
            </a:avLst>
          </a:prstGeom>
          <a:solidFill>
            <a:srgbClr val="FFFFFF"/>
          </a:solidFill>
          <a:ln w="12700">
            <a:solidFill>
              <a:srgbClr val="E1E8EC"/>
            </a:solidFill>
            <a:prstDash val="solid"/>
          </a:ln>
        </p:spPr>
      </p:sp>
      <p:sp>
        <p:nvSpPr>
          <p:cNvPr id="24" name="Shape 21"/>
          <p:cNvSpPr/>
          <p:nvPr/>
        </p:nvSpPr>
        <p:spPr>
          <a:xfrm>
            <a:off x="4251960" y="3310128"/>
            <a:ext cx="530352" cy="530352"/>
          </a:xfrm>
          <a:prstGeom prst="ellipse">
            <a:avLst/>
          </a:prstGeom>
          <a:solidFill>
            <a:srgbClr val="1C7293"/>
          </a:solidFill>
        </p:spPr>
      </p:sp>
      <p:pic>
        <p:nvPicPr>
          <p:cNvPr id="25" name="Image 1" descr="icons/layers.png"/>
          <p:cNvPicPr>
            <a:picLocks noChangeAspect="1"/>
          </p:cNvPicPr>
          <p:nvPr/>
        </p:nvPicPr>
        <p:blipFill>
          <a:blip r:embed="rId2"/>
          <a:stretch>
            <a:fillRect/>
          </a:stretch>
        </p:blipFill>
        <p:spPr>
          <a:xfrm>
            <a:off x="4379244" y="3437412"/>
            <a:ext cx="275783" cy="275783"/>
          </a:xfrm>
          <a:prstGeom prst="rect">
            <a:avLst/>
          </a:prstGeom>
        </p:spPr>
      </p:pic>
      <p:sp>
        <p:nvSpPr>
          <p:cNvPr id="26" name="Text 22"/>
          <p:cNvSpPr/>
          <p:nvPr/>
        </p:nvSpPr>
        <p:spPr>
          <a:xfrm>
            <a:off x="4937760" y="3218688"/>
            <a:ext cx="1920240" cy="713232"/>
          </a:xfrm>
          <a:prstGeom prst="rect">
            <a:avLst/>
          </a:prstGeom>
          <a:noFill/>
        </p:spPr>
        <p:txBody>
          <a:bodyPr wrap="square" rtlCol="0" anchor="ctr"/>
          <a:lstStyle/>
          <a:p>
            <a:pPr marL="0" indent="0">
              <a:buNone/>
            </a:pPr>
            <a:r>
              <a:rPr lang="en-US" sz="1400" b="1" dirty="0">
                <a:solidFill>
                  <a:srgbClr val="21295C"/>
                </a:solidFill>
                <a:latin typeface="Calibri" panose="020F0502020204030204" pitchFamily="34" charset="0"/>
                <a:ea typeface="Calibri" panose="020F0502020204030204" pitchFamily="34" charset="-122"/>
                <a:cs typeface="Calibri" panose="020F0502020204030204" pitchFamily="34" charset="-120"/>
              </a:rPr>
              <a:t>Dice</a:t>
            </a:r>
            <a:endParaRPr lang="en-US" sz="1400" dirty="0"/>
          </a:p>
        </p:txBody>
      </p:sp>
      <p:sp>
        <p:nvSpPr>
          <p:cNvPr id="27" name="Text 23"/>
          <p:cNvSpPr/>
          <p:nvPr/>
        </p:nvSpPr>
        <p:spPr>
          <a:xfrm>
            <a:off x="6949440" y="3218688"/>
            <a:ext cx="4480560" cy="713232"/>
          </a:xfrm>
          <a:prstGeom prst="rect">
            <a:avLst/>
          </a:prstGeom>
          <a:noFill/>
        </p:spPr>
        <p:txBody>
          <a:bodyPr wrap="square" rtlCol="0" anchor="ctr"/>
          <a:lstStyle/>
          <a:p>
            <a:pPr marL="0" indent="0">
              <a:buNone/>
            </a:pPr>
            <a:r>
              <a:rPr lang="en-US" sz="1250" dirty="0">
                <a:solidFill>
                  <a:srgbClr val="5A6B75"/>
                </a:solidFill>
                <a:latin typeface="Calibri" panose="020F0502020204030204" pitchFamily="34" charset="0"/>
                <a:ea typeface="Calibri" panose="020F0502020204030204" pitchFamily="34" charset="-122"/>
                <a:cs typeface="Calibri" panose="020F0502020204030204" pitchFamily="34" charset="-120"/>
              </a:rPr>
              <a:t>Apply multiple filters</a:t>
            </a:r>
            <a:endParaRPr lang="en-US" sz="1250" dirty="0"/>
          </a:p>
        </p:txBody>
      </p:sp>
      <p:sp>
        <p:nvSpPr>
          <p:cNvPr id="28" name="Shape 24"/>
          <p:cNvSpPr/>
          <p:nvPr/>
        </p:nvSpPr>
        <p:spPr>
          <a:xfrm>
            <a:off x="4114800" y="4059936"/>
            <a:ext cx="7498080" cy="713232"/>
          </a:xfrm>
          <a:prstGeom prst="roundRect">
            <a:avLst>
              <a:gd name="adj" fmla="val 8974"/>
            </a:avLst>
          </a:prstGeom>
          <a:solidFill>
            <a:srgbClr val="FFFFFF"/>
          </a:solidFill>
          <a:ln w="12700">
            <a:solidFill>
              <a:srgbClr val="E1E8EC"/>
            </a:solidFill>
            <a:prstDash val="solid"/>
          </a:ln>
        </p:spPr>
      </p:sp>
      <p:sp>
        <p:nvSpPr>
          <p:cNvPr id="29" name="Shape 25"/>
          <p:cNvSpPr/>
          <p:nvPr/>
        </p:nvSpPr>
        <p:spPr>
          <a:xfrm>
            <a:off x="4251960" y="4151376"/>
            <a:ext cx="530352" cy="530352"/>
          </a:xfrm>
          <a:prstGeom prst="ellipse">
            <a:avLst/>
          </a:prstGeom>
          <a:solidFill>
            <a:srgbClr val="1C7293"/>
          </a:solidFill>
        </p:spPr>
      </p:sp>
      <p:pic>
        <p:nvPicPr>
          <p:cNvPr id="30" name="Image 2" descr="icons/drill.png"/>
          <p:cNvPicPr>
            <a:picLocks noChangeAspect="1"/>
          </p:cNvPicPr>
          <p:nvPr/>
        </p:nvPicPr>
        <p:blipFill>
          <a:blip r:embed="rId3"/>
          <a:stretch>
            <a:fillRect/>
          </a:stretch>
        </p:blipFill>
        <p:spPr>
          <a:xfrm>
            <a:off x="4379244" y="4278660"/>
            <a:ext cx="275783" cy="275783"/>
          </a:xfrm>
          <a:prstGeom prst="rect">
            <a:avLst/>
          </a:prstGeom>
        </p:spPr>
      </p:pic>
      <p:sp>
        <p:nvSpPr>
          <p:cNvPr id="31" name="Text 26"/>
          <p:cNvSpPr/>
          <p:nvPr/>
        </p:nvSpPr>
        <p:spPr>
          <a:xfrm>
            <a:off x="4937760" y="4059936"/>
            <a:ext cx="1920240" cy="713232"/>
          </a:xfrm>
          <a:prstGeom prst="rect">
            <a:avLst/>
          </a:prstGeom>
          <a:noFill/>
        </p:spPr>
        <p:txBody>
          <a:bodyPr wrap="square" rtlCol="0" anchor="ctr"/>
          <a:lstStyle/>
          <a:p>
            <a:pPr marL="0" indent="0">
              <a:buNone/>
            </a:pPr>
            <a:r>
              <a:rPr lang="en-US" sz="1400" b="1" dirty="0">
                <a:solidFill>
                  <a:srgbClr val="21295C"/>
                </a:solidFill>
                <a:latin typeface="Calibri" panose="020F0502020204030204" pitchFamily="34" charset="0"/>
                <a:ea typeface="Calibri" panose="020F0502020204030204" pitchFamily="34" charset="-122"/>
                <a:cs typeface="Calibri" panose="020F0502020204030204" pitchFamily="34" charset="-120"/>
              </a:rPr>
              <a:t>Drill Down</a:t>
            </a:r>
            <a:endParaRPr lang="en-US" sz="1400" dirty="0"/>
          </a:p>
        </p:txBody>
      </p:sp>
      <p:sp>
        <p:nvSpPr>
          <p:cNvPr id="32" name="Text 27"/>
          <p:cNvSpPr/>
          <p:nvPr/>
        </p:nvSpPr>
        <p:spPr>
          <a:xfrm>
            <a:off x="6949440" y="4059936"/>
            <a:ext cx="4480560" cy="713232"/>
          </a:xfrm>
          <a:prstGeom prst="rect">
            <a:avLst/>
          </a:prstGeom>
          <a:noFill/>
        </p:spPr>
        <p:txBody>
          <a:bodyPr wrap="square" rtlCol="0" anchor="ctr"/>
          <a:lstStyle/>
          <a:p>
            <a:pPr marL="0" indent="0">
              <a:buNone/>
            </a:pPr>
            <a:r>
              <a:rPr lang="en-US" sz="1250" dirty="0">
                <a:solidFill>
                  <a:srgbClr val="5A6B75"/>
                </a:solidFill>
                <a:latin typeface="Calibri" panose="020F0502020204030204" pitchFamily="34" charset="0"/>
                <a:ea typeface="Calibri" panose="020F0502020204030204" pitchFamily="34" charset="-122"/>
                <a:cs typeface="Calibri" panose="020F0502020204030204" pitchFamily="34" charset="-120"/>
              </a:rPr>
              <a:t>View detailed information</a:t>
            </a:r>
            <a:endParaRPr lang="en-US" sz="1250" dirty="0"/>
          </a:p>
        </p:txBody>
      </p:sp>
      <p:sp>
        <p:nvSpPr>
          <p:cNvPr id="33" name="Shape 28"/>
          <p:cNvSpPr/>
          <p:nvPr/>
        </p:nvSpPr>
        <p:spPr>
          <a:xfrm>
            <a:off x="4114800" y="4901184"/>
            <a:ext cx="7498080" cy="713232"/>
          </a:xfrm>
          <a:prstGeom prst="roundRect">
            <a:avLst>
              <a:gd name="adj" fmla="val 8974"/>
            </a:avLst>
          </a:prstGeom>
          <a:solidFill>
            <a:srgbClr val="FFFFFF"/>
          </a:solidFill>
          <a:ln w="12700">
            <a:solidFill>
              <a:srgbClr val="E1E8EC"/>
            </a:solidFill>
            <a:prstDash val="solid"/>
          </a:ln>
        </p:spPr>
      </p:sp>
      <p:sp>
        <p:nvSpPr>
          <p:cNvPr id="34" name="Shape 29"/>
          <p:cNvSpPr/>
          <p:nvPr/>
        </p:nvSpPr>
        <p:spPr>
          <a:xfrm>
            <a:off x="4251960" y="4992624"/>
            <a:ext cx="530352" cy="530352"/>
          </a:xfrm>
          <a:prstGeom prst="ellipse">
            <a:avLst/>
          </a:prstGeom>
          <a:solidFill>
            <a:srgbClr val="1C7293"/>
          </a:solidFill>
        </p:spPr>
      </p:sp>
      <p:pic>
        <p:nvPicPr>
          <p:cNvPr id="35" name="Image 3" descr="icons/chartbar.png"/>
          <p:cNvPicPr>
            <a:picLocks noChangeAspect="1"/>
          </p:cNvPicPr>
          <p:nvPr/>
        </p:nvPicPr>
        <p:blipFill>
          <a:blip r:embed="rId4"/>
          <a:stretch>
            <a:fillRect/>
          </a:stretch>
        </p:blipFill>
        <p:spPr>
          <a:xfrm>
            <a:off x="4379244" y="5119908"/>
            <a:ext cx="275783" cy="275783"/>
          </a:xfrm>
          <a:prstGeom prst="rect">
            <a:avLst/>
          </a:prstGeom>
        </p:spPr>
      </p:pic>
      <p:sp>
        <p:nvSpPr>
          <p:cNvPr id="36" name="Text 30"/>
          <p:cNvSpPr/>
          <p:nvPr/>
        </p:nvSpPr>
        <p:spPr>
          <a:xfrm>
            <a:off x="4937760" y="4901184"/>
            <a:ext cx="1920240" cy="713232"/>
          </a:xfrm>
          <a:prstGeom prst="rect">
            <a:avLst/>
          </a:prstGeom>
          <a:noFill/>
        </p:spPr>
        <p:txBody>
          <a:bodyPr wrap="square" rtlCol="0" anchor="ctr"/>
          <a:lstStyle/>
          <a:p>
            <a:pPr marL="0" indent="0">
              <a:buNone/>
            </a:pPr>
            <a:r>
              <a:rPr lang="en-US" sz="1400" b="1" dirty="0">
                <a:solidFill>
                  <a:srgbClr val="21295C"/>
                </a:solidFill>
                <a:latin typeface="Calibri" panose="020F0502020204030204" pitchFamily="34" charset="0"/>
                <a:ea typeface="Calibri" panose="020F0502020204030204" pitchFamily="34" charset="-122"/>
                <a:cs typeface="Calibri" panose="020F0502020204030204" pitchFamily="34" charset="-120"/>
              </a:rPr>
              <a:t>Roll Up</a:t>
            </a:r>
            <a:endParaRPr lang="en-US" sz="1400" dirty="0"/>
          </a:p>
        </p:txBody>
      </p:sp>
      <p:sp>
        <p:nvSpPr>
          <p:cNvPr id="37" name="Text 31"/>
          <p:cNvSpPr/>
          <p:nvPr/>
        </p:nvSpPr>
        <p:spPr>
          <a:xfrm>
            <a:off x="6949440" y="4901184"/>
            <a:ext cx="4480560" cy="713232"/>
          </a:xfrm>
          <a:prstGeom prst="rect">
            <a:avLst/>
          </a:prstGeom>
          <a:noFill/>
        </p:spPr>
        <p:txBody>
          <a:bodyPr wrap="square" rtlCol="0" anchor="ctr"/>
          <a:lstStyle/>
          <a:p>
            <a:pPr marL="0" indent="0">
              <a:buNone/>
            </a:pPr>
            <a:r>
              <a:rPr lang="en-US" sz="1250" dirty="0">
                <a:solidFill>
                  <a:srgbClr val="5A6B75"/>
                </a:solidFill>
                <a:latin typeface="Calibri" panose="020F0502020204030204" pitchFamily="34" charset="0"/>
                <a:ea typeface="Calibri" panose="020F0502020204030204" pitchFamily="34" charset="-122"/>
                <a:cs typeface="Calibri" panose="020F0502020204030204" pitchFamily="34" charset="-120"/>
              </a:rPr>
              <a:t>View summarized information</a:t>
            </a:r>
            <a:endParaRPr lang="en-US" sz="1250" dirty="0"/>
          </a:p>
        </p:txBody>
      </p:sp>
      <p:sp>
        <p:nvSpPr>
          <p:cNvPr id="38" name="Shape 32"/>
          <p:cNvSpPr/>
          <p:nvPr/>
        </p:nvSpPr>
        <p:spPr>
          <a:xfrm>
            <a:off x="4114800" y="5742432"/>
            <a:ext cx="7498080" cy="713232"/>
          </a:xfrm>
          <a:prstGeom prst="roundRect">
            <a:avLst>
              <a:gd name="adj" fmla="val 8974"/>
            </a:avLst>
          </a:prstGeom>
          <a:solidFill>
            <a:srgbClr val="FFFFFF"/>
          </a:solidFill>
          <a:ln w="12700">
            <a:solidFill>
              <a:srgbClr val="E1E8EC"/>
            </a:solidFill>
            <a:prstDash val="solid"/>
          </a:ln>
        </p:spPr>
      </p:sp>
      <p:sp>
        <p:nvSpPr>
          <p:cNvPr id="39" name="Shape 33"/>
          <p:cNvSpPr/>
          <p:nvPr/>
        </p:nvSpPr>
        <p:spPr>
          <a:xfrm>
            <a:off x="4251960" y="5833872"/>
            <a:ext cx="530352" cy="530352"/>
          </a:xfrm>
          <a:prstGeom prst="ellipse">
            <a:avLst/>
          </a:prstGeom>
          <a:solidFill>
            <a:srgbClr val="1C7293"/>
          </a:solidFill>
        </p:spPr>
      </p:sp>
      <p:pic>
        <p:nvPicPr>
          <p:cNvPr id="40" name="Image 4" descr="icons/pivot.png"/>
          <p:cNvPicPr>
            <a:picLocks noChangeAspect="1"/>
          </p:cNvPicPr>
          <p:nvPr/>
        </p:nvPicPr>
        <p:blipFill>
          <a:blip r:embed="rId5"/>
          <a:stretch>
            <a:fillRect/>
          </a:stretch>
        </p:blipFill>
        <p:spPr>
          <a:xfrm>
            <a:off x="4379244" y="5961156"/>
            <a:ext cx="275783" cy="275783"/>
          </a:xfrm>
          <a:prstGeom prst="rect">
            <a:avLst/>
          </a:prstGeom>
        </p:spPr>
      </p:pic>
      <p:sp>
        <p:nvSpPr>
          <p:cNvPr id="41" name="Text 34"/>
          <p:cNvSpPr/>
          <p:nvPr/>
        </p:nvSpPr>
        <p:spPr>
          <a:xfrm>
            <a:off x="4937760" y="5742432"/>
            <a:ext cx="1920240" cy="713232"/>
          </a:xfrm>
          <a:prstGeom prst="rect">
            <a:avLst/>
          </a:prstGeom>
          <a:noFill/>
        </p:spPr>
        <p:txBody>
          <a:bodyPr wrap="square" rtlCol="0" anchor="ctr"/>
          <a:lstStyle/>
          <a:p>
            <a:pPr marL="0" indent="0">
              <a:buNone/>
            </a:pPr>
            <a:r>
              <a:rPr lang="en-US" sz="1400" b="1" dirty="0">
                <a:solidFill>
                  <a:srgbClr val="21295C"/>
                </a:solidFill>
                <a:latin typeface="Calibri" panose="020F0502020204030204" pitchFamily="34" charset="0"/>
                <a:ea typeface="Calibri" panose="020F0502020204030204" pitchFamily="34" charset="-122"/>
                <a:cs typeface="Calibri" panose="020F0502020204030204" pitchFamily="34" charset="-120"/>
              </a:rPr>
              <a:t>Pivot</a:t>
            </a:r>
            <a:endParaRPr lang="en-US" sz="1400" dirty="0"/>
          </a:p>
        </p:txBody>
      </p:sp>
      <p:sp>
        <p:nvSpPr>
          <p:cNvPr id="42" name="Text 35"/>
          <p:cNvSpPr/>
          <p:nvPr/>
        </p:nvSpPr>
        <p:spPr>
          <a:xfrm>
            <a:off x="6949440" y="5742432"/>
            <a:ext cx="4480560" cy="713232"/>
          </a:xfrm>
          <a:prstGeom prst="rect">
            <a:avLst/>
          </a:prstGeom>
          <a:noFill/>
        </p:spPr>
        <p:txBody>
          <a:bodyPr wrap="square" rtlCol="0" anchor="ctr"/>
          <a:lstStyle/>
          <a:p>
            <a:pPr marL="0" indent="0">
              <a:buNone/>
            </a:pPr>
            <a:r>
              <a:rPr lang="en-US" sz="1250" dirty="0">
                <a:solidFill>
                  <a:srgbClr val="5A6B75"/>
                </a:solidFill>
                <a:latin typeface="Calibri" panose="020F0502020204030204" pitchFamily="34" charset="0"/>
                <a:ea typeface="Calibri" panose="020F0502020204030204" pitchFamily="34" charset="-122"/>
                <a:cs typeface="Calibri" panose="020F0502020204030204" pitchFamily="34" charset="-120"/>
              </a:rPr>
              <a:t>Rotate data for a different perspective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365760"/>
            <a:ext cx="8229600" cy="548640"/>
          </a:xfrm>
          <a:prstGeom prst="rect">
            <a:avLst/>
          </a:prstGeom>
          <a:noFill/>
        </p:spPr>
        <p:txBody>
          <a:bodyPr wrap="square" rtlCol="0" anchor="ctr"/>
          <a:lstStyle/>
          <a:p>
            <a:pPr marL="0" indent="0">
              <a:buNone/>
            </a:pPr>
            <a:r>
              <a:rPr lang="en-US" sz="3000" b="1" dirty="0">
                <a:solidFill>
                  <a:srgbClr val="21295C"/>
                </a:solidFill>
                <a:latin typeface="Cambria" panose="02040503050406030204" pitchFamily="34" charset="0"/>
                <a:ea typeface="Cambria" panose="02040503050406030204" pitchFamily="34" charset="-122"/>
                <a:cs typeface="Cambria" panose="02040503050406030204" pitchFamily="34" charset="-120"/>
              </a:rPr>
              <a:t>Data Cubes in Action</a:t>
            </a:r>
            <a:endParaRPr lang="en-US" sz="3000" dirty="0"/>
          </a:p>
        </p:txBody>
      </p:sp>
      <p:sp>
        <p:nvSpPr>
          <p:cNvPr id="3" name="Text 1"/>
          <p:cNvSpPr/>
          <p:nvPr/>
        </p:nvSpPr>
        <p:spPr>
          <a:xfrm>
            <a:off x="548640" y="960120"/>
            <a:ext cx="11064240" cy="411480"/>
          </a:xfrm>
          <a:prstGeom prst="rect">
            <a:avLst/>
          </a:prstGeom>
          <a:noFill/>
        </p:spPr>
        <p:txBody>
          <a:bodyPr wrap="square" rtlCol="0" anchor="ctr"/>
          <a:lstStyle/>
          <a:p>
            <a:pPr marL="0" indent="0">
              <a:lnSpc>
                <a:spcPts val="1700"/>
              </a:lnSpc>
              <a:buNone/>
            </a:pPr>
            <a:r>
              <a:rPr lang="en-US" sz="1350" b="1" dirty="0">
                <a:solidFill>
                  <a:srgbClr val="065A82"/>
                </a:solidFill>
                <a:latin typeface="Calibri" panose="020F0502020204030204" pitchFamily="34" charset="0"/>
                <a:ea typeface="Calibri" panose="020F0502020204030204" pitchFamily="34" charset="-122"/>
                <a:cs typeface="Calibri" panose="020F0502020204030204" pitchFamily="34" charset="-120"/>
              </a:rPr>
              <a:t>A Data Cube </a:t>
            </a:r>
            <a:r>
              <a:rPr lang="en-US" sz="1350" dirty="0">
                <a:solidFill>
                  <a:srgbClr val="1B2733"/>
                </a:solidFill>
                <a:latin typeface="Calibri" panose="020F0502020204030204" pitchFamily="34" charset="0"/>
                <a:ea typeface="Calibri" panose="020F0502020204030204" pitchFamily="34" charset="-122"/>
                <a:cs typeface="Calibri" panose="020F0502020204030204" pitchFamily="34" charset="-120"/>
              </a:rPr>
              <a:t>stores data in multiple dimensions, allowing users to analyze information quickly.</a:t>
            </a:r>
            <a:endParaRPr lang="en-US" sz="1350" dirty="0"/>
          </a:p>
        </p:txBody>
      </p:sp>
      <p:sp>
        <p:nvSpPr>
          <p:cNvPr id="4" name="Text 2"/>
          <p:cNvSpPr/>
          <p:nvPr/>
        </p:nvSpPr>
        <p:spPr>
          <a:xfrm>
            <a:off x="548640" y="1508760"/>
            <a:ext cx="4572000" cy="274320"/>
          </a:xfrm>
          <a:prstGeom prst="rect">
            <a:avLst/>
          </a:prstGeom>
          <a:noFill/>
        </p:spPr>
        <p:txBody>
          <a:bodyPr wrap="square" rtlCol="0" anchor="ctr"/>
          <a:lstStyle/>
          <a:p>
            <a:pPr marL="0" indent="0">
              <a:buNone/>
            </a:pPr>
            <a:r>
              <a:rPr lang="en-US" sz="1150" b="1" kern="0" spc="150" dirty="0">
                <a:solidFill>
                  <a:srgbClr val="1C7293"/>
                </a:solidFill>
                <a:latin typeface="Calibri" panose="020F0502020204030204" pitchFamily="34" charset="0"/>
                <a:ea typeface="Calibri" panose="020F0502020204030204" pitchFamily="34" charset="-122"/>
                <a:cs typeface="Calibri" panose="020F0502020204030204" pitchFamily="34" charset="-120"/>
              </a:rPr>
              <a:t>DIMENSIONS → MEASURE</a:t>
            </a:r>
            <a:endParaRPr lang="en-US" sz="1150" dirty="0"/>
          </a:p>
        </p:txBody>
      </p:sp>
      <p:sp>
        <p:nvSpPr>
          <p:cNvPr id="5" name="Shape 3"/>
          <p:cNvSpPr/>
          <p:nvPr/>
        </p:nvSpPr>
        <p:spPr>
          <a:xfrm>
            <a:off x="548640" y="1874520"/>
            <a:ext cx="1691640" cy="1371600"/>
          </a:xfrm>
          <a:prstGeom prst="roundRect">
            <a:avLst>
              <a:gd name="adj" fmla="val 6000"/>
            </a:avLst>
          </a:prstGeom>
          <a:solidFill>
            <a:srgbClr val="FFFFFF"/>
          </a:solidFill>
          <a:ln w="15875">
            <a:solidFill>
              <a:srgbClr val="1C7293"/>
            </a:solidFill>
            <a:prstDash val="solid"/>
          </a:ln>
        </p:spPr>
      </p:sp>
      <p:sp>
        <p:nvSpPr>
          <p:cNvPr id="6" name="Shape 4"/>
          <p:cNvSpPr/>
          <p:nvPr/>
        </p:nvSpPr>
        <p:spPr>
          <a:xfrm>
            <a:off x="1115568" y="2029968"/>
            <a:ext cx="566928" cy="566928"/>
          </a:xfrm>
          <a:prstGeom prst="ellipse">
            <a:avLst/>
          </a:prstGeom>
          <a:solidFill>
            <a:srgbClr val="1C7293"/>
          </a:solidFill>
        </p:spPr>
      </p:sp>
      <p:pic>
        <p:nvPicPr>
          <p:cNvPr id="7" name="Image 0" descr="icons/boxes.png"/>
          <p:cNvPicPr>
            <a:picLocks noChangeAspect="1"/>
          </p:cNvPicPr>
          <p:nvPr/>
        </p:nvPicPr>
        <p:blipFill>
          <a:blip r:embed="rId1"/>
          <a:stretch>
            <a:fillRect/>
          </a:stretch>
        </p:blipFill>
        <p:spPr>
          <a:xfrm>
            <a:off x="1251631" y="2166031"/>
            <a:ext cx="294803" cy="294803"/>
          </a:xfrm>
          <a:prstGeom prst="rect">
            <a:avLst/>
          </a:prstGeom>
        </p:spPr>
      </p:pic>
      <p:sp>
        <p:nvSpPr>
          <p:cNvPr id="8" name="Text 5"/>
          <p:cNvSpPr/>
          <p:nvPr/>
        </p:nvSpPr>
        <p:spPr>
          <a:xfrm>
            <a:off x="548640" y="2651760"/>
            <a:ext cx="1691640" cy="457200"/>
          </a:xfrm>
          <a:prstGeom prst="rect">
            <a:avLst/>
          </a:prstGeom>
          <a:noFill/>
        </p:spPr>
        <p:txBody>
          <a:bodyPr wrap="square" rtlCol="0" anchor="ct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Product</a:t>
            </a:r>
            <a:endParaRPr lang="en-US" sz="1250" dirty="0"/>
          </a:p>
        </p:txBody>
      </p:sp>
      <p:sp>
        <p:nvSpPr>
          <p:cNvPr id="9" name="Shape 6"/>
          <p:cNvSpPr/>
          <p:nvPr/>
        </p:nvSpPr>
        <p:spPr>
          <a:xfrm>
            <a:off x="2423160" y="1874520"/>
            <a:ext cx="1691640" cy="1371600"/>
          </a:xfrm>
          <a:prstGeom prst="roundRect">
            <a:avLst>
              <a:gd name="adj" fmla="val 6000"/>
            </a:avLst>
          </a:prstGeom>
          <a:solidFill>
            <a:srgbClr val="FFFFFF"/>
          </a:solidFill>
          <a:ln w="15875">
            <a:solidFill>
              <a:srgbClr val="1C7293"/>
            </a:solidFill>
            <a:prstDash val="solid"/>
          </a:ln>
        </p:spPr>
      </p:sp>
      <p:sp>
        <p:nvSpPr>
          <p:cNvPr id="10" name="Shape 7"/>
          <p:cNvSpPr/>
          <p:nvPr/>
        </p:nvSpPr>
        <p:spPr>
          <a:xfrm>
            <a:off x="2990088" y="2029968"/>
            <a:ext cx="566928" cy="566928"/>
          </a:xfrm>
          <a:prstGeom prst="ellipse">
            <a:avLst/>
          </a:prstGeom>
          <a:solidFill>
            <a:srgbClr val="1C7293"/>
          </a:solidFill>
        </p:spPr>
      </p:sp>
      <p:pic>
        <p:nvPicPr>
          <p:cNvPr id="11" name="Image 1" descr="icons/map.png"/>
          <p:cNvPicPr>
            <a:picLocks noChangeAspect="1"/>
          </p:cNvPicPr>
          <p:nvPr/>
        </p:nvPicPr>
        <p:blipFill>
          <a:blip r:embed="rId2"/>
          <a:stretch>
            <a:fillRect/>
          </a:stretch>
        </p:blipFill>
        <p:spPr>
          <a:xfrm>
            <a:off x="3126151" y="2166031"/>
            <a:ext cx="294803" cy="294803"/>
          </a:xfrm>
          <a:prstGeom prst="rect">
            <a:avLst/>
          </a:prstGeom>
        </p:spPr>
      </p:pic>
      <p:sp>
        <p:nvSpPr>
          <p:cNvPr id="12" name="Text 8"/>
          <p:cNvSpPr/>
          <p:nvPr/>
        </p:nvSpPr>
        <p:spPr>
          <a:xfrm>
            <a:off x="2423160" y="2651760"/>
            <a:ext cx="1691640" cy="457200"/>
          </a:xfrm>
          <a:prstGeom prst="rect">
            <a:avLst/>
          </a:prstGeom>
          <a:noFill/>
        </p:spPr>
        <p:txBody>
          <a:bodyPr wrap="square" rtlCol="0" anchor="ct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City</a:t>
            </a:r>
            <a:endParaRPr lang="en-US" sz="1250" dirty="0"/>
          </a:p>
        </p:txBody>
      </p:sp>
      <p:sp>
        <p:nvSpPr>
          <p:cNvPr id="13" name="Shape 9"/>
          <p:cNvSpPr/>
          <p:nvPr/>
        </p:nvSpPr>
        <p:spPr>
          <a:xfrm>
            <a:off x="4297680" y="1874520"/>
            <a:ext cx="1691640" cy="1371600"/>
          </a:xfrm>
          <a:prstGeom prst="roundRect">
            <a:avLst>
              <a:gd name="adj" fmla="val 6000"/>
            </a:avLst>
          </a:prstGeom>
          <a:solidFill>
            <a:srgbClr val="FFFFFF"/>
          </a:solidFill>
          <a:ln w="15875">
            <a:solidFill>
              <a:srgbClr val="1C7293"/>
            </a:solidFill>
            <a:prstDash val="solid"/>
          </a:ln>
        </p:spPr>
      </p:sp>
      <p:sp>
        <p:nvSpPr>
          <p:cNvPr id="14" name="Shape 10"/>
          <p:cNvSpPr/>
          <p:nvPr/>
        </p:nvSpPr>
        <p:spPr>
          <a:xfrm>
            <a:off x="4864608" y="2029968"/>
            <a:ext cx="566928" cy="566928"/>
          </a:xfrm>
          <a:prstGeom prst="ellipse">
            <a:avLst/>
          </a:prstGeom>
          <a:solidFill>
            <a:srgbClr val="1C7293"/>
          </a:solidFill>
        </p:spPr>
      </p:sp>
      <p:pic>
        <p:nvPicPr>
          <p:cNvPr id="15" name="Image 2" descr="icons/clock.png"/>
          <p:cNvPicPr>
            <a:picLocks noChangeAspect="1"/>
          </p:cNvPicPr>
          <p:nvPr/>
        </p:nvPicPr>
        <p:blipFill>
          <a:blip r:embed="rId3"/>
          <a:stretch>
            <a:fillRect/>
          </a:stretch>
        </p:blipFill>
        <p:spPr>
          <a:xfrm>
            <a:off x="5000671" y="2166031"/>
            <a:ext cx="294803" cy="294803"/>
          </a:xfrm>
          <a:prstGeom prst="rect">
            <a:avLst/>
          </a:prstGeom>
        </p:spPr>
      </p:pic>
      <p:sp>
        <p:nvSpPr>
          <p:cNvPr id="16" name="Text 11"/>
          <p:cNvSpPr/>
          <p:nvPr/>
        </p:nvSpPr>
        <p:spPr>
          <a:xfrm>
            <a:off x="4297680" y="2651760"/>
            <a:ext cx="1691640" cy="457200"/>
          </a:xfrm>
          <a:prstGeom prst="rect">
            <a:avLst/>
          </a:prstGeom>
          <a:noFill/>
        </p:spPr>
        <p:txBody>
          <a:bodyPr wrap="square" rtlCol="0" anchor="ctr"/>
          <a:lstStyle/>
          <a:p>
            <a:pPr marL="0" indent="0" algn="ctr">
              <a:buNone/>
            </a:pPr>
            <a:r>
              <a:rPr lang="en-US" sz="1250" b="1" dirty="0">
                <a:solidFill>
                  <a:srgbClr val="1B2733"/>
                </a:solidFill>
                <a:latin typeface="Calibri" panose="020F0502020204030204" pitchFamily="34" charset="0"/>
                <a:ea typeface="Calibri" panose="020F0502020204030204" pitchFamily="34" charset="-122"/>
                <a:cs typeface="Calibri" panose="020F0502020204030204" pitchFamily="34" charset="-120"/>
              </a:rPr>
              <a:t>Time</a:t>
            </a:r>
            <a:endParaRPr lang="en-US" sz="1250" dirty="0"/>
          </a:p>
        </p:txBody>
      </p:sp>
      <p:sp>
        <p:nvSpPr>
          <p:cNvPr id="17" name="Text 12"/>
          <p:cNvSpPr/>
          <p:nvPr/>
        </p:nvSpPr>
        <p:spPr>
          <a:xfrm>
            <a:off x="6172200" y="2194560"/>
            <a:ext cx="640080" cy="731520"/>
          </a:xfrm>
          <a:prstGeom prst="rect">
            <a:avLst/>
          </a:prstGeom>
          <a:noFill/>
        </p:spPr>
        <p:txBody>
          <a:bodyPr wrap="square" rtlCol="0" anchor="ctr"/>
          <a:lstStyle/>
          <a:p>
            <a:pPr marL="0" indent="0" algn="ctr">
              <a:buNone/>
            </a:pPr>
            <a:r>
              <a:rPr lang="en-US" sz="3000" b="1" dirty="0">
                <a:solidFill>
                  <a:srgbClr val="21295C"/>
                </a:solidFill>
                <a:latin typeface="Calibri" panose="020F0502020204030204" pitchFamily="34" charset="0"/>
                <a:ea typeface="Calibri" panose="020F0502020204030204" pitchFamily="34" charset="-122"/>
                <a:cs typeface="Calibri" panose="020F0502020204030204" pitchFamily="34" charset="-120"/>
              </a:rPr>
              <a:t>→</a:t>
            </a:r>
            <a:endParaRPr lang="en-US" sz="3000" dirty="0"/>
          </a:p>
        </p:txBody>
      </p:sp>
      <p:sp>
        <p:nvSpPr>
          <p:cNvPr id="18" name="Shape 13"/>
          <p:cNvSpPr/>
          <p:nvPr/>
        </p:nvSpPr>
        <p:spPr>
          <a:xfrm>
            <a:off x="6903720" y="1874520"/>
            <a:ext cx="1691640" cy="1371600"/>
          </a:xfrm>
          <a:prstGeom prst="roundRect">
            <a:avLst>
              <a:gd name="adj" fmla="val 6000"/>
            </a:avLst>
          </a:prstGeom>
          <a:solidFill>
            <a:srgbClr val="21295C"/>
          </a:solidFill>
        </p:spPr>
      </p:sp>
      <p:sp>
        <p:nvSpPr>
          <p:cNvPr id="19" name="Shape 14"/>
          <p:cNvSpPr/>
          <p:nvPr/>
        </p:nvSpPr>
        <p:spPr>
          <a:xfrm>
            <a:off x="7470648" y="2029968"/>
            <a:ext cx="566928" cy="566928"/>
          </a:xfrm>
          <a:prstGeom prst="ellipse">
            <a:avLst/>
          </a:prstGeom>
          <a:solidFill>
            <a:srgbClr val="065A82"/>
          </a:solidFill>
        </p:spPr>
      </p:sp>
      <p:pic>
        <p:nvPicPr>
          <p:cNvPr id="20" name="Image 3" descr="icons/coins.png"/>
          <p:cNvPicPr>
            <a:picLocks noChangeAspect="1"/>
          </p:cNvPicPr>
          <p:nvPr/>
        </p:nvPicPr>
        <p:blipFill>
          <a:blip r:embed="rId4"/>
          <a:stretch>
            <a:fillRect/>
          </a:stretch>
        </p:blipFill>
        <p:spPr>
          <a:xfrm>
            <a:off x="7606711" y="2166031"/>
            <a:ext cx="294803" cy="294803"/>
          </a:xfrm>
          <a:prstGeom prst="rect">
            <a:avLst/>
          </a:prstGeom>
        </p:spPr>
      </p:pic>
      <p:sp>
        <p:nvSpPr>
          <p:cNvPr id="21" name="Text 15"/>
          <p:cNvSpPr/>
          <p:nvPr/>
        </p:nvSpPr>
        <p:spPr>
          <a:xfrm>
            <a:off x="6903720" y="2651760"/>
            <a:ext cx="1691640" cy="457200"/>
          </a:xfrm>
          <a:prstGeom prst="rect">
            <a:avLst/>
          </a:prstGeom>
          <a:noFill/>
        </p:spPr>
        <p:txBody>
          <a:bodyPr wrap="square" rtlCol="0" anchor="ctr"/>
          <a:lstStyle/>
          <a:p>
            <a:pPr marL="0" indent="0" algn="ctr">
              <a:buNone/>
            </a:pPr>
            <a:r>
              <a:rPr lang="en-US" sz="1250" b="1" dirty="0">
                <a:solidFill>
                  <a:srgbClr val="9FD8CB"/>
                </a:solidFill>
                <a:latin typeface="Calibri" panose="020F0502020204030204" pitchFamily="34" charset="0"/>
                <a:ea typeface="Calibri" panose="020F0502020204030204" pitchFamily="34" charset="-122"/>
                <a:cs typeface="Calibri" panose="020F0502020204030204" pitchFamily="34" charset="-120"/>
              </a:rPr>
              <a:t>Sales</a:t>
            </a:r>
            <a:endParaRPr lang="en-US" sz="1250" dirty="0"/>
          </a:p>
        </p:txBody>
      </p:sp>
      <p:sp>
        <p:nvSpPr>
          <p:cNvPr id="22" name="Text 16"/>
          <p:cNvSpPr/>
          <p:nvPr/>
        </p:nvSpPr>
        <p:spPr>
          <a:xfrm>
            <a:off x="6903720" y="2971800"/>
            <a:ext cx="1691640" cy="274320"/>
          </a:xfrm>
          <a:prstGeom prst="rect">
            <a:avLst/>
          </a:prstGeom>
          <a:noFill/>
        </p:spPr>
        <p:txBody>
          <a:bodyPr wrap="square" rtlCol="0" anchor="ctr"/>
          <a:lstStyle/>
          <a:p>
            <a:pPr marL="0" indent="0" algn="ctr">
              <a:buNone/>
            </a:pPr>
            <a:r>
              <a:rPr lang="en-US" sz="950" i="1" dirty="0">
                <a:solidFill>
                  <a:srgbClr val="9FD8CB"/>
                </a:solidFill>
                <a:latin typeface="Calibri" panose="020F0502020204030204" pitchFamily="34" charset="0"/>
                <a:ea typeface="Calibri" panose="020F0502020204030204" pitchFamily="34" charset="-122"/>
                <a:cs typeface="Calibri" panose="020F0502020204030204" pitchFamily="34" charset="-120"/>
              </a:rPr>
              <a:t>(Measure)</a:t>
            </a:r>
            <a:endParaRPr lang="en-US" sz="950" dirty="0"/>
          </a:p>
        </p:txBody>
      </p:sp>
      <p:sp>
        <p:nvSpPr>
          <p:cNvPr id="23" name="Text 17"/>
          <p:cNvSpPr/>
          <p:nvPr/>
        </p:nvSpPr>
        <p:spPr>
          <a:xfrm>
            <a:off x="548640" y="3520440"/>
            <a:ext cx="4572000" cy="274320"/>
          </a:xfrm>
          <a:prstGeom prst="rect">
            <a:avLst/>
          </a:prstGeom>
          <a:noFill/>
        </p:spPr>
        <p:txBody>
          <a:bodyPr wrap="square" rtlCol="0" anchor="ctr"/>
          <a:lstStyle/>
          <a:p>
            <a:pPr marL="0" indent="0">
              <a:buNone/>
            </a:pPr>
            <a:r>
              <a:rPr lang="en-US" sz="1150" b="1" kern="0" spc="150" dirty="0">
                <a:solidFill>
                  <a:srgbClr val="1C7293"/>
                </a:solidFill>
                <a:latin typeface="Calibri" panose="020F0502020204030204" pitchFamily="34" charset="0"/>
                <a:ea typeface="Calibri" panose="020F0502020204030204" pitchFamily="34" charset="-122"/>
                <a:cs typeface="Calibri" panose="020F0502020204030204" pitchFamily="34" charset="-120"/>
              </a:rPr>
              <a:t>SAMPLE DATA</a:t>
            </a:r>
            <a:endParaRPr lang="en-US" sz="1150" dirty="0"/>
          </a:p>
        </p:txBody>
      </p:sp>
      <p:graphicFrame>
        <p:nvGraphicFramePr>
          <p:cNvPr id="24" name="Table 0"/>
          <p:cNvGraphicFramePr>
            <a:graphicFrameLocks noGrp="1"/>
          </p:cNvGraphicFramePr>
          <p:nvPr/>
        </p:nvGraphicFramePr>
        <p:xfrm>
          <a:off x="548640" y="3840480"/>
          <a:ext cx="6217920" cy="1417320"/>
        </p:xfrm>
        <a:graphic>
          <a:graphicData uri="http://schemas.openxmlformats.org/drawingml/2006/table">
            <a:tbl>
              <a:tblPr/>
              <a:tblGrid>
                <a:gridCol w="1554480"/>
                <a:gridCol w="1554480"/>
                <a:gridCol w="1554480"/>
                <a:gridCol w="1554480"/>
              </a:tblGrid>
              <a:tr h="354330">
                <a:tc>
                  <a:txBody>
                    <a:bodyPr/>
                    <a:lstStyle/>
                    <a:p>
                      <a:pPr marL="0" indent="0" algn="l">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Product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City</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Month</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anose="020F0502020204030204" pitchFamily="34" charset="0"/>
                          <a:ea typeface="Calibri" panose="020F0502020204030204" pitchFamily="34" charset="-122"/>
                          <a:cs typeface="Calibri" panose="020F0502020204030204" pitchFamily="34" charset="-120"/>
                        </a:rPr>
                        <a:t>Sales</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065A82"/>
                    </a:solidFill>
                  </a:tcPr>
                </a:tc>
              </a:tr>
              <a:tr h="354330">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Laptop</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Chennai</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June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₹8,00,000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r>
              <a:tr h="354330">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Mobile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Bangalore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June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₹5,50,000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r>
              <a:tr h="354330">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Tablet</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Hyderabad</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June</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₹3,20,000</a:t>
                      </a:r>
                      <a:endParaRPr lang="en-US" sz="1150" dirty="0">
                        <a:latin typeface="Calibri" panose="020F0502020204030204" pitchFamily="34" charset="0"/>
                        <a:ea typeface="Calibri" panose="020F0502020204030204" pitchFamily="34" charset="0"/>
                        <a:cs typeface="Calibri" panose="020F0502020204030204" pitchFamily="34" charset="0"/>
                      </a:endParaRPr>
                    </a:p>
                  </a:txBody>
                  <a:tcPr anchor="ctr">
                    <a:lnL w="12700" cap="flat" cmpd="sng" algn="ctr">
                      <a:solidFill>
                        <a:srgbClr val="E1E8EC"/>
                      </a:solidFill>
                      <a:prstDash val="solid"/>
                      <a:round/>
                      <a:headEnd type="none" w="med" len="med"/>
                      <a:tailEnd type="none" w="med" len="med"/>
                    </a:lnL>
                    <a:lnR w="12700" cap="flat" cmpd="sng" algn="ctr">
                      <a:solidFill>
                        <a:srgbClr val="E1E8EC"/>
                      </a:solidFill>
                      <a:prstDash val="solid"/>
                      <a:round/>
                      <a:headEnd type="none" w="med" len="med"/>
                      <a:tailEnd type="none" w="med" len="med"/>
                    </a:lnR>
                    <a:lnT w="12700" cap="flat" cmpd="sng" algn="ctr">
                      <a:solidFill>
                        <a:srgbClr val="E1E8EC"/>
                      </a:solidFill>
                      <a:prstDash val="solid"/>
                      <a:round/>
                      <a:headEnd type="none" w="med" len="med"/>
                      <a:tailEnd type="none" w="med" len="med"/>
                    </a:lnT>
                    <a:lnB w="12700" cap="flat" cmpd="sng" algn="ctr">
                      <a:solidFill>
                        <a:srgbClr val="E1E8EC"/>
                      </a:solidFill>
                      <a:prstDash val="solid"/>
                      <a:round/>
                      <a:headEnd type="none" w="med" len="med"/>
                      <a:tailEnd type="none" w="med" len="med"/>
                    </a:lnB>
                    <a:solidFill>
                      <a:srgbClr val="FFFFFF"/>
                    </a:solidFill>
                  </a:tcPr>
                </a:tc>
              </a:tr>
            </a:tbl>
          </a:graphicData>
        </a:graphic>
      </p:graphicFrame>
      <p:sp>
        <p:nvSpPr>
          <p:cNvPr id="25" name="Shape 18"/>
          <p:cNvSpPr/>
          <p:nvPr/>
        </p:nvSpPr>
        <p:spPr>
          <a:xfrm>
            <a:off x="6903720" y="3520440"/>
            <a:ext cx="4709160" cy="1874520"/>
          </a:xfrm>
          <a:prstGeom prst="roundRect">
            <a:avLst>
              <a:gd name="adj" fmla="val 4390"/>
            </a:avLst>
          </a:prstGeom>
          <a:solidFill>
            <a:srgbClr val="FFFFFF"/>
          </a:solidFill>
          <a:ln w="12700">
            <a:solidFill>
              <a:srgbClr val="E1E8EC"/>
            </a:solidFill>
            <a:prstDash val="solid"/>
          </a:ln>
        </p:spPr>
      </p:sp>
      <p:sp>
        <p:nvSpPr>
          <p:cNvPr id="26" name="Text 19"/>
          <p:cNvSpPr/>
          <p:nvPr/>
        </p:nvSpPr>
        <p:spPr>
          <a:xfrm>
            <a:off x="7086600" y="3657600"/>
            <a:ext cx="4297680" cy="274320"/>
          </a:xfrm>
          <a:prstGeom prst="rect">
            <a:avLst/>
          </a:prstGeom>
          <a:noFill/>
        </p:spPr>
        <p:txBody>
          <a:bodyPr wrap="square" rtlCol="0" anchor="ctr"/>
          <a:lstStyle/>
          <a:p>
            <a:pPr marL="0" indent="0">
              <a:buNone/>
            </a:pPr>
            <a:r>
              <a:rPr lang="en-US" sz="1150" b="1" kern="0" spc="120" dirty="0">
                <a:solidFill>
                  <a:srgbClr val="065A82"/>
                </a:solidFill>
                <a:latin typeface="Calibri" panose="020F0502020204030204" pitchFamily="34" charset="0"/>
                <a:ea typeface="Calibri" panose="020F0502020204030204" pitchFamily="34" charset="-122"/>
                <a:cs typeface="Calibri" panose="020F0502020204030204" pitchFamily="34" charset="-120"/>
              </a:rPr>
              <a:t>REAL-WORLD EXAMPLE</a:t>
            </a:r>
            <a:endParaRPr lang="en-US" sz="1150" dirty="0"/>
          </a:p>
        </p:txBody>
      </p:sp>
      <p:sp>
        <p:nvSpPr>
          <p:cNvPr id="27" name="Text 20"/>
          <p:cNvSpPr/>
          <p:nvPr/>
        </p:nvSpPr>
        <p:spPr>
          <a:xfrm>
            <a:off x="7223760" y="3977640"/>
            <a:ext cx="4206240" cy="1325880"/>
          </a:xfrm>
          <a:prstGeom prst="rect">
            <a:avLst/>
          </a:prstGeom>
          <a:noFill/>
        </p:spPr>
        <p:txBody>
          <a:bodyPr wrap="square" rtlCol="0" anchor="ctr"/>
          <a:lstStyle/>
          <a:p>
            <a:pPr marL="342900" indent="-342900">
              <a:lnSpc>
                <a:spcPts val="1500"/>
              </a:lnSpc>
              <a:spcAft>
                <a:spcPts val="300"/>
              </a:spcAft>
              <a:buSzPct val="100000"/>
              <a:buChar char="•"/>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Analyze customer buying patterns
</a:t>
            </a:r>
            <a:endParaRPr lang="en-US" sz="1150" dirty="0"/>
          </a:p>
          <a:p>
            <a:pPr marL="342900" indent="-342900">
              <a:lnSpc>
                <a:spcPts val="1500"/>
              </a:lnSpc>
              <a:spcAft>
                <a:spcPts val="300"/>
              </a:spcAft>
              <a:buSzPct val="100000"/>
              <a:buChar char="•"/>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Compare sales across regions
</a:t>
            </a:r>
            <a:endParaRPr lang="en-US" sz="1150" dirty="0"/>
          </a:p>
          <a:p>
            <a:pPr marL="342900" indent="-342900">
              <a:lnSpc>
                <a:spcPts val="1500"/>
              </a:lnSpc>
              <a:spcAft>
                <a:spcPts val="300"/>
              </a:spcAft>
              <a:buSzPct val="100000"/>
              <a:buChar char="•"/>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Predict future demand
</a:t>
            </a:r>
            <a:endParaRPr lang="en-US" sz="1150" dirty="0"/>
          </a:p>
          <a:p>
            <a:pPr marL="342900" indent="-342900">
              <a:lnSpc>
                <a:spcPts val="1500"/>
              </a:lnSpc>
              <a:spcAft>
                <a:spcPts val="300"/>
              </a:spcAft>
              <a:buSzPct val="100000"/>
              <a:buChar char="•"/>
            </a:pPr>
            <a:r>
              <a:rPr lang="en-US" sz="1150" dirty="0">
                <a:solidFill>
                  <a:srgbClr val="1B2733"/>
                </a:solidFill>
                <a:latin typeface="Calibri" panose="020F0502020204030204" pitchFamily="34" charset="0"/>
                <a:ea typeface="Calibri" panose="020F0502020204030204" pitchFamily="34" charset="-122"/>
                <a:cs typeface="Calibri" panose="020F0502020204030204" pitchFamily="34" charset="-120"/>
              </a:rPr>
              <a:t>Improve inventory management</a:t>
            </a:r>
            <a:endParaRPr lang="en-US" sz="1150" dirty="0"/>
          </a:p>
        </p:txBody>
      </p:sp>
      <p:sp>
        <p:nvSpPr>
          <p:cNvPr id="31" name="Text 23"/>
          <p:cNvSpPr/>
          <p:nvPr/>
        </p:nvSpPr>
        <p:spPr>
          <a:xfrm>
            <a:off x="1600200" y="5440680"/>
            <a:ext cx="5760720" cy="1051560"/>
          </a:xfrm>
          <a:prstGeom prst="rect">
            <a:avLst/>
          </a:prstGeom>
          <a:noFill/>
        </p:spPr>
        <p:txBody>
          <a:bodyPr wrap="square" rtlCol="0" anchor="ctr"/>
          <a:lstStyle/>
          <a:p>
            <a:pPr marL="0" indent="0">
              <a:lnSpc>
                <a:spcPts val="1700"/>
              </a:lnSpc>
              <a:buNone/>
            </a:pPr>
            <a:endParaRPr lang="en-US" sz="1100" dirty="0"/>
          </a:p>
        </p:txBody>
      </p:sp>
      <p:sp>
        <p:nvSpPr>
          <p:cNvPr id="32" name="Text 24"/>
          <p:cNvSpPr/>
          <p:nvPr/>
        </p:nvSpPr>
        <p:spPr>
          <a:xfrm>
            <a:off x="7589520" y="5440680"/>
            <a:ext cx="3840480" cy="1051560"/>
          </a:xfrm>
          <a:prstGeom prst="rect">
            <a:avLst/>
          </a:prstGeom>
          <a:noFill/>
        </p:spPr>
        <p:txBody>
          <a:bodyPr wrap="square" rtlCol="0" anchor="ctr"/>
          <a:lstStyle/>
          <a:p>
            <a:pPr marL="0" indent="0" algn="l">
              <a:lnSpc>
                <a:spcPts val="1500"/>
              </a:lnSpc>
              <a:buNone/>
            </a:pP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8FA"/>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548640"/>
          </a:xfrm>
          <a:prstGeom prst="rect">
            <a:avLst/>
          </a:prstGeom>
          <a:noFill/>
        </p:spPr>
        <p:txBody>
          <a:bodyPr wrap="square" rtlCol="0" anchor="ctr"/>
          <a:lstStyle/>
          <a:p>
            <a:pPr marL="0" indent="0">
              <a:buNone/>
            </a:pPr>
            <a:r>
              <a:rPr lang="en-US" sz="3000" b="1" dirty="0">
                <a:solidFill>
                  <a:srgbClr val="21295C"/>
                </a:solidFill>
                <a:latin typeface="Cambria" panose="02040503050406030204" pitchFamily="34" charset="0"/>
                <a:ea typeface="Cambria" panose="02040503050406030204" pitchFamily="34" charset="-122"/>
                <a:cs typeface="Cambria" panose="02040503050406030204" pitchFamily="34" charset="-120"/>
              </a:rPr>
              <a:t>Business Impact of OLAP</a:t>
            </a:r>
            <a:endParaRPr lang="en-US" sz="3000" dirty="0"/>
          </a:p>
        </p:txBody>
      </p:sp>
      <p:sp>
        <p:nvSpPr>
          <p:cNvPr id="3" name="Text 1"/>
          <p:cNvSpPr/>
          <p:nvPr/>
        </p:nvSpPr>
        <p:spPr>
          <a:xfrm>
            <a:off x="548640" y="914400"/>
            <a:ext cx="7315200" cy="320040"/>
          </a:xfrm>
          <a:prstGeom prst="rect">
            <a:avLst/>
          </a:prstGeom>
          <a:noFill/>
        </p:spPr>
        <p:txBody>
          <a:bodyPr wrap="square" rtlCol="0" anchor="ctr"/>
          <a:lstStyle/>
          <a:p>
            <a:pPr marL="0" indent="0">
              <a:buNone/>
            </a:pPr>
            <a:r>
              <a:rPr lang="en-US" sz="1400" i="1" dirty="0">
                <a:solidFill>
                  <a:srgbClr val="5A6B75"/>
                </a:solidFill>
                <a:latin typeface="Calibri" panose="020F0502020204030204" pitchFamily="34" charset="0"/>
                <a:ea typeface="Calibri" panose="020F0502020204030204" pitchFamily="34" charset="-122"/>
                <a:cs typeface="Calibri" panose="020F0502020204030204" pitchFamily="34" charset="-120"/>
              </a:rPr>
              <a:t>Why Businesses Use OLAP</a:t>
            </a:r>
            <a:endParaRPr lang="en-US" sz="1400" dirty="0"/>
          </a:p>
        </p:txBody>
      </p:sp>
      <p:sp>
        <p:nvSpPr>
          <p:cNvPr id="4" name="Shape 2"/>
          <p:cNvSpPr/>
          <p:nvPr/>
        </p:nvSpPr>
        <p:spPr>
          <a:xfrm>
            <a:off x="548640" y="1417320"/>
            <a:ext cx="3566160" cy="1051560"/>
          </a:xfrm>
          <a:prstGeom prst="roundRect">
            <a:avLst>
              <a:gd name="adj" fmla="val 6957"/>
            </a:avLst>
          </a:prstGeom>
          <a:solidFill>
            <a:srgbClr val="FFFFFF"/>
          </a:solidFill>
          <a:ln w="12700">
            <a:solidFill>
              <a:srgbClr val="E1E8EC"/>
            </a:solidFill>
            <a:prstDash val="solid"/>
          </a:ln>
        </p:spPr>
      </p:sp>
      <p:sp>
        <p:nvSpPr>
          <p:cNvPr id="5" name="Shape 3"/>
          <p:cNvSpPr/>
          <p:nvPr/>
        </p:nvSpPr>
        <p:spPr>
          <a:xfrm>
            <a:off x="731520" y="1668780"/>
            <a:ext cx="548640" cy="548640"/>
          </a:xfrm>
          <a:prstGeom prst="ellipse">
            <a:avLst/>
          </a:prstGeom>
          <a:solidFill>
            <a:srgbClr val="065A82"/>
          </a:solidFill>
        </p:spPr>
      </p:sp>
      <p:pic>
        <p:nvPicPr>
          <p:cNvPr id="6" name="Image 0" descr="icons/bolt.png"/>
          <p:cNvPicPr>
            <a:picLocks noChangeAspect="1"/>
          </p:cNvPicPr>
          <p:nvPr/>
        </p:nvPicPr>
        <p:blipFill>
          <a:blip r:embed="rId1"/>
          <a:stretch>
            <a:fillRect/>
          </a:stretch>
        </p:blipFill>
        <p:spPr>
          <a:xfrm>
            <a:off x="863194" y="1800454"/>
            <a:ext cx="285293" cy="285293"/>
          </a:xfrm>
          <a:prstGeom prst="rect">
            <a:avLst/>
          </a:prstGeom>
        </p:spPr>
      </p:pic>
      <p:sp>
        <p:nvSpPr>
          <p:cNvPr id="7" name="Text 4"/>
          <p:cNvSpPr/>
          <p:nvPr/>
        </p:nvSpPr>
        <p:spPr>
          <a:xfrm>
            <a:off x="1463040" y="1417320"/>
            <a:ext cx="2514600" cy="1051560"/>
          </a:xfrm>
          <a:prstGeom prst="rect">
            <a:avLst/>
          </a:prstGeom>
          <a:noFill/>
        </p:spPr>
        <p:txBody>
          <a:bodyPr wrap="square" rtlCol="0" anchor="ctr"/>
          <a:lstStyle/>
          <a:p>
            <a:pPr marL="0" indent="0">
              <a:buNone/>
            </a:pPr>
            <a:r>
              <a:rPr lang="en-US" sz="1300" b="1" dirty="0">
                <a:solidFill>
                  <a:srgbClr val="1B2733"/>
                </a:solidFill>
                <a:latin typeface="Calibri" panose="020F0502020204030204" pitchFamily="34" charset="0"/>
                <a:ea typeface="Calibri" panose="020F0502020204030204" pitchFamily="34" charset="-122"/>
                <a:cs typeface="Calibri" panose="020F0502020204030204" pitchFamily="34" charset="-120"/>
              </a:rPr>
              <a:t>Faster Decision Making</a:t>
            </a:r>
            <a:endParaRPr lang="en-US" sz="1300" dirty="0"/>
          </a:p>
        </p:txBody>
      </p:sp>
      <p:sp>
        <p:nvSpPr>
          <p:cNvPr id="8" name="Shape 5"/>
          <p:cNvSpPr/>
          <p:nvPr/>
        </p:nvSpPr>
        <p:spPr>
          <a:xfrm>
            <a:off x="4251960" y="1417320"/>
            <a:ext cx="3566160" cy="1051560"/>
          </a:xfrm>
          <a:prstGeom prst="roundRect">
            <a:avLst>
              <a:gd name="adj" fmla="val 6957"/>
            </a:avLst>
          </a:prstGeom>
          <a:solidFill>
            <a:srgbClr val="FFFFFF"/>
          </a:solidFill>
          <a:ln w="12700">
            <a:solidFill>
              <a:srgbClr val="E1E8EC"/>
            </a:solidFill>
            <a:prstDash val="solid"/>
          </a:ln>
        </p:spPr>
      </p:sp>
      <p:sp>
        <p:nvSpPr>
          <p:cNvPr id="9" name="Shape 6"/>
          <p:cNvSpPr/>
          <p:nvPr/>
        </p:nvSpPr>
        <p:spPr>
          <a:xfrm>
            <a:off x="4434840" y="1668780"/>
            <a:ext cx="548640" cy="548640"/>
          </a:xfrm>
          <a:prstGeom prst="ellipse">
            <a:avLst/>
          </a:prstGeom>
          <a:solidFill>
            <a:srgbClr val="065A82"/>
          </a:solidFill>
        </p:spPr>
      </p:sp>
      <p:pic>
        <p:nvPicPr>
          <p:cNvPr id="10" name="Image 1" descr="icons/chartline.png"/>
          <p:cNvPicPr>
            <a:picLocks noChangeAspect="1"/>
          </p:cNvPicPr>
          <p:nvPr/>
        </p:nvPicPr>
        <p:blipFill>
          <a:blip r:embed="rId2"/>
          <a:stretch>
            <a:fillRect/>
          </a:stretch>
        </p:blipFill>
        <p:spPr>
          <a:xfrm>
            <a:off x="4566514" y="1800454"/>
            <a:ext cx="285293" cy="285293"/>
          </a:xfrm>
          <a:prstGeom prst="rect">
            <a:avLst/>
          </a:prstGeom>
        </p:spPr>
      </p:pic>
      <p:sp>
        <p:nvSpPr>
          <p:cNvPr id="11" name="Text 7"/>
          <p:cNvSpPr/>
          <p:nvPr/>
        </p:nvSpPr>
        <p:spPr>
          <a:xfrm>
            <a:off x="5166360" y="1417320"/>
            <a:ext cx="2514600" cy="1051560"/>
          </a:xfrm>
          <a:prstGeom prst="rect">
            <a:avLst/>
          </a:prstGeom>
          <a:noFill/>
        </p:spPr>
        <p:txBody>
          <a:bodyPr wrap="square" rtlCol="0" anchor="ctr"/>
          <a:lstStyle/>
          <a:p>
            <a:pPr marL="0" indent="0">
              <a:buNone/>
            </a:pPr>
            <a:r>
              <a:rPr lang="en-US" sz="1300" b="1" dirty="0">
                <a:solidFill>
                  <a:srgbClr val="1B2733"/>
                </a:solidFill>
                <a:latin typeface="Calibri" panose="020F0502020204030204" pitchFamily="34" charset="0"/>
                <a:ea typeface="Calibri" panose="020F0502020204030204" pitchFamily="34" charset="-122"/>
                <a:cs typeface="Calibri" panose="020F0502020204030204" pitchFamily="34" charset="-120"/>
              </a:rPr>
              <a:t>Better Trend Analysis</a:t>
            </a:r>
            <a:endParaRPr lang="en-US" sz="1300" dirty="0"/>
          </a:p>
        </p:txBody>
      </p:sp>
      <p:sp>
        <p:nvSpPr>
          <p:cNvPr id="12" name="Shape 8"/>
          <p:cNvSpPr/>
          <p:nvPr/>
        </p:nvSpPr>
        <p:spPr>
          <a:xfrm>
            <a:off x="548640" y="2606040"/>
            <a:ext cx="3566160" cy="1051560"/>
          </a:xfrm>
          <a:prstGeom prst="roundRect">
            <a:avLst>
              <a:gd name="adj" fmla="val 6957"/>
            </a:avLst>
          </a:prstGeom>
          <a:solidFill>
            <a:srgbClr val="FFFFFF"/>
          </a:solidFill>
          <a:ln w="12700">
            <a:solidFill>
              <a:srgbClr val="E1E8EC"/>
            </a:solidFill>
            <a:prstDash val="solid"/>
          </a:ln>
        </p:spPr>
      </p:sp>
      <p:sp>
        <p:nvSpPr>
          <p:cNvPr id="13" name="Shape 9"/>
          <p:cNvSpPr/>
          <p:nvPr/>
        </p:nvSpPr>
        <p:spPr>
          <a:xfrm>
            <a:off x="731520" y="2857500"/>
            <a:ext cx="548640" cy="548640"/>
          </a:xfrm>
          <a:prstGeom prst="ellipse">
            <a:avLst/>
          </a:prstGeom>
          <a:solidFill>
            <a:srgbClr val="065A82"/>
          </a:solidFill>
        </p:spPr>
      </p:sp>
      <p:pic>
        <p:nvPicPr>
          <p:cNvPr id="14" name="Image 2" descr="icons/brain.png"/>
          <p:cNvPicPr>
            <a:picLocks noChangeAspect="1"/>
          </p:cNvPicPr>
          <p:nvPr/>
        </p:nvPicPr>
        <p:blipFill>
          <a:blip r:embed="rId3"/>
          <a:stretch>
            <a:fillRect/>
          </a:stretch>
        </p:blipFill>
        <p:spPr>
          <a:xfrm>
            <a:off x="863194" y="2989174"/>
            <a:ext cx="285293" cy="285293"/>
          </a:xfrm>
          <a:prstGeom prst="rect">
            <a:avLst/>
          </a:prstGeom>
        </p:spPr>
      </p:pic>
      <p:sp>
        <p:nvSpPr>
          <p:cNvPr id="15" name="Text 10"/>
          <p:cNvSpPr/>
          <p:nvPr/>
        </p:nvSpPr>
        <p:spPr>
          <a:xfrm>
            <a:off x="1463040" y="2606040"/>
            <a:ext cx="2514600" cy="1051560"/>
          </a:xfrm>
          <a:prstGeom prst="rect">
            <a:avLst/>
          </a:prstGeom>
          <a:noFill/>
        </p:spPr>
        <p:txBody>
          <a:bodyPr wrap="square" rtlCol="0" anchor="ctr"/>
          <a:lstStyle/>
          <a:p>
            <a:pPr marL="0" indent="0">
              <a:buNone/>
            </a:pPr>
            <a:r>
              <a:rPr lang="en-US" sz="1300" b="1" dirty="0">
                <a:solidFill>
                  <a:srgbClr val="1B2733"/>
                </a:solidFill>
                <a:latin typeface="Calibri" panose="020F0502020204030204" pitchFamily="34" charset="0"/>
                <a:ea typeface="Calibri" panose="020F0502020204030204" pitchFamily="34" charset="-122"/>
                <a:cs typeface="Calibri" panose="020F0502020204030204" pitchFamily="34" charset="-120"/>
              </a:rPr>
              <a:t>Accurate Business Forecasting</a:t>
            </a:r>
            <a:endParaRPr lang="en-US" sz="1300" dirty="0"/>
          </a:p>
        </p:txBody>
      </p:sp>
      <p:sp>
        <p:nvSpPr>
          <p:cNvPr id="16" name="Shape 11"/>
          <p:cNvSpPr/>
          <p:nvPr/>
        </p:nvSpPr>
        <p:spPr>
          <a:xfrm>
            <a:off x="4251960" y="2606040"/>
            <a:ext cx="3566160" cy="1051560"/>
          </a:xfrm>
          <a:prstGeom prst="roundRect">
            <a:avLst>
              <a:gd name="adj" fmla="val 6957"/>
            </a:avLst>
          </a:prstGeom>
          <a:solidFill>
            <a:srgbClr val="FFFFFF"/>
          </a:solidFill>
          <a:ln w="12700">
            <a:solidFill>
              <a:srgbClr val="E1E8EC"/>
            </a:solidFill>
            <a:prstDash val="solid"/>
          </a:ln>
        </p:spPr>
      </p:sp>
      <p:sp>
        <p:nvSpPr>
          <p:cNvPr id="17" name="Shape 12"/>
          <p:cNvSpPr/>
          <p:nvPr/>
        </p:nvSpPr>
        <p:spPr>
          <a:xfrm>
            <a:off x="4434840" y="2857500"/>
            <a:ext cx="548640" cy="548640"/>
          </a:xfrm>
          <a:prstGeom prst="ellipse">
            <a:avLst/>
          </a:prstGeom>
          <a:solidFill>
            <a:srgbClr val="065A82"/>
          </a:solidFill>
        </p:spPr>
      </p:sp>
      <p:pic>
        <p:nvPicPr>
          <p:cNvPr id="18" name="Image 3" descr="icons/chartbar.png"/>
          <p:cNvPicPr>
            <a:picLocks noChangeAspect="1"/>
          </p:cNvPicPr>
          <p:nvPr/>
        </p:nvPicPr>
        <p:blipFill>
          <a:blip r:embed="rId4"/>
          <a:stretch>
            <a:fillRect/>
          </a:stretch>
        </p:blipFill>
        <p:spPr>
          <a:xfrm>
            <a:off x="4566514" y="2989174"/>
            <a:ext cx="285293" cy="285293"/>
          </a:xfrm>
          <a:prstGeom prst="rect">
            <a:avLst/>
          </a:prstGeom>
        </p:spPr>
      </p:pic>
      <p:sp>
        <p:nvSpPr>
          <p:cNvPr id="19" name="Text 13"/>
          <p:cNvSpPr/>
          <p:nvPr/>
        </p:nvSpPr>
        <p:spPr>
          <a:xfrm>
            <a:off x="5166360" y="2606040"/>
            <a:ext cx="2514600" cy="1051560"/>
          </a:xfrm>
          <a:prstGeom prst="rect">
            <a:avLst/>
          </a:prstGeom>
          <a:noFill/>
        </p:spPr>
        <p:txBody>
          <a:bodyPr wrap="square" rtlCol="0" anchor="ctr"/>
          <a:lstStyle/>
          <a:p>
            <a:pPr marL="0" indent="0">
              <a:buNone/>
            </a:pPr>
            <a:r>
              <a:rPr lang="en-US" sz="1300" b="1" dirty="0">
                <a:solidFill>
                  <a:srgbClr val="1B2733"/>
                </a:solidFill>
                <a:latin typeface="Calibri" panose="020F0502020204030204" pitchFamily="34" charset="0"/>
                <a:ea typeface="Calibri" panose="020F0502020204030204" pitchFamily="34" charset="-122"/>
                <a:cs typeface="Calibri" panose="020F0502020204030204" pitchFamily="34" charset="-120"/>
              </a:rPr>
              <a:t>Interactive Reports</a:t>
            </a:r>
            <a:endParaRPr lang="en-US" sz="1300" dirty="0"/>
          </a:p>
        </p:txBody>
      </p:sp>
      <p:sp>
        <p:nvSpPr>
          <p:cNvPr id="20" name="Shape 14"/>
          <p:cNvSpPr/>
          <p:nvPr/>
        </p:nvSpPr>
        <p:spPr>
          <a:xfrm>
            <a:off x="548640" y="3794760"/>
            <a:ext cx="3566160" cy="1051560"/>
          </a:xfrm>
          <a:prstGeom prst="roundRect">
            <a:avLst>
              <a:gd name="adj" fmla="val 6957"/>
            </a:avLst>
          </a:prstGeom>
          <a:solidFill>
            <a:srgbClr val="FFFFFF"/>
          </a:solidFill>
          <a:ln w="12700">
            <a:solidFill>
              <a:srgbClr val="E1E8EC"/>
            </a:solidFill>
            <a:prstDash val="solid"/>
          </a:ln>
        </p:spPr>
      </p:sp>
      <p:sp>
        <p:nvSpPr>
          <p:cNvPr id="21" name="Shape 15"/>
          <p:cNvSpPr/>
          <p:nvPr/>
        </p:nvSpPr>
        <p:spPr>
          <a:xfrm>
            <a:off x="731520" y="4046220"/>
            <a:ext cx="548640" cy="548640"/>
          </a:xfrm>
          <a:prstGeom prst="ellipse">
            <a:avLst/>
          </a:prstGeom>
          <a:solidFill>
            <a:srgbClr val="065A82"/>
          </a:solidFill>
        </p:spPr>
      </p:sp>
      <p:pic>
        <p:nvPicPr>
          <p:cNvPr id="22" name="Image 4" descr="icons/check.png"/>
          <p:cNvPicPr>
            <a:picLocks noChangeAspect="1"/>
          </p:cNvPicPr>
          <p:nvPr/>
        </p:nvPicPr>
        <p:blipFill>
          <a:blip r:embed="rId5"/>
          <a:stretch>
            <a:fillRect/>
          </a:stretch>
        </p:blipFill>
        <p:spPr>
          <a:xfrm>
            <a:off x="863194" y="4177894"/>
            <a:ext cx="285293" cy="285293"/>
          </a:xfrm>
          <a:prstGeom prst="rect">
            <a:avLst/>
          </a:prstGeom>
        </p:spPr>
      </p:pic>
      <p:sp>
        <p:nvSpPr>
          <p:cNvPr id="23" name="Text 16"/>
          <p:cNvSpPr/>
          <p:nvPr/>
        </p:nvSpPr>
        <p:spPr>
          <a:xfrm>
            <a:off x="1463040" y="3794760"/>
            <a:ext cx="2514600" cy="1051560"/>
          </a:xfrm>
          <a:prstGeom prst="rect">
            <a:avLst/>
          </a:prstGeom>
          <a:noFill/>
        </p:spPr>
        <p:txBody>
          <a:bodyPr wrap="square" rtlCol="0" anchor="ctr"/>
          <a:lstStyle/>
          <a:p>
            <a:pPr marL="0" indent="0">
              <a:buNone/>
            </a:pPr>
            <a:r>
              <a:rPr lang="en-US" sz="1300" b="1" dirty="0">
                <a:solidFill>
                  <a:srgbClr val="1B2733"/>
                </a:solidFill>
                <a:latin typeface="Calibri" panose="020F0502020204030204" pitchFamily="34" charset="0"/>
                <a:ea typeface="Calibri" panose="020F0502020204030204" pitchFamily="34" charset="-122"/>
                <a:cs typeface="Calibri" panose="020F0502020204030204" pitchFamily="34" charset="-120"/>
              </a:rPr>
              <a:t>Improved Customer Insights</a:t>
            </a:r>
            <a:endParaRPr lang="en-US" sz="1300" dirty="0"/>
          </a:p>
        </p:txBody>
      </p:sp>
      <p:sp>
        <p:nvSpPr>
          <p:cNvPr id="24" name="Shape 17"/>
          <p:cNvSpPr/>
          <p:nvPr/>
        </p:nvSpPr>
        <p:spPr>
          <a:xfrm>
            <a:off x="4251960" y="3794760"/>
            <a:ext cx="3566160" cy="1051560"/>
          </a:xfrm>
          <a:prstGeom prst="roundRect">
            <a:avLst>
              <a:gd name="adj" fmla="val 6957"/>
            </a:avLst>
          </a:prstGeom>
          <a:solidFill>
            <a:srgbClr val="FFFFFF"/>
          </a:solidFill>
          <a:ln w="12700">
            <a:solidFill>
              <a:srgbClr val="E1E8EC"/>
            </a:solidFill>
            <a:prstDash val="solid"/>
          </a:ln>
        </p:spPr>
      </p:sp>
      <p:sp>
        <p:nvSpPr>
          <p:cNvPr id="25" name="Shape 18"/>
          <p:cNvSpPr/>
          <p:nvPr/>
        </p:nvSpPr>
        <p:spPr>
          <a:xfrm>
            <a:off x="4434840" y="4046220"/>
            <a:ext cx="548640" cy="548640"/>
          </a:xfrm>
          <a:prstGeom prst="ellipse">
            <a:avLst/>
          </a:prstGeom>
          <a:solidFill>
            <a:srgbClr val="065A82"/>
          </a:solidFill>
        </p:spPr>
      </p:sp>
      <p:pic>
        <p:nvPicPr>
          <p:cNvPr id="26" name="Image 5" descr="icons/warehouse.png"/>
          <p:cNvPicPr>
            <a:picLocks noChangeAspect="1"/>
          </p:cNvPicPr>
          <p:nvPr/>
        </p:nvPicPr>
        <p:blipFill>
          <a:blip r:embed="rId6"/>
          <a:stretch>
            <a:fillRect/>
          </a:stretch>
        </p:blipFill>
        <p:spPr>
          <a:xfrm>
            <a:off x="4566514" y="4177894"/>
            <a:ext cx="285293" cy="285293"/>
          </a:xfrm>
          <a:prstGeom prst="rect">
            <a:avLst/>
          </a:prstGeom>
        </p:spPr>
      </p:pic>
      <p:sp>
        <p:nvSpPr>
          <p:cNvPr id="27" name="Text 19"/>
          <p:cNvSpPr/>
          <p:nvPr/>
        </p:nvSpPr>
        <p:spPr>
          <a:xfrm>
            <a:off x="5166360" y="3794760"/>
            <a:ext cx="2514600" cy="1051560"/>
          </a:xfrm>
          <a:prstGeom prst="rect">
            <a:avLst/>
          </a:prstGeom>
          <a:noFill/>
        </p:spPr>
        <p:txBody>
          <a:bodyPr wrap="square" rtlCol="0" anchor="ctr"/>
          <a:lstStyle/>
          <a:p>
            <a:pPr marL="0" indent="0">
              <a:buNone/>
            </a:pPr>
            <a:r>
              <a:rPr lang="en-US" sz="1300" b="1" dirty="0">
                <a:solidFill>
                  <a:srgbClr val="1B2733"/>
                </a:solidFill>
                <a:latin typeface="Calibri" panose="020F0502020204030204" pitchFamily="34" charset="0"/>
                <a:ea typeface="Calibri" panose="020F0502020204030204" pitchFamily="34" charset="-122"/>
                <a:cs typeface="Calibri" panose="020F0502020204030204" pitchFamily="34" charset="-120"/>
              </a:rPr>
              <a:t>Higher Business Efficiency</a:t>
            </a:r>
            <a:endParaRPr lang="en-US" sz="1300" dirty="0"/>
          </a:p>
        </p:txBody>
      </p:sp>
      <p:sp>
        <p:nvSpPr>
          <p:cNvPr id="28" name="Shape 20"/>
          <p:cNvSpPr/>
          <p:nvPr/>
        </p:nvSpPr>
        <p:spPr>
          <a:xfrm>
            <a:off x="8092440" y="1417320"/>
            <a:ext cx="3520440" cy="3611880"/>
          </a:xfrm>
          <a:prstGeom prst="roundRect">
            <a:avLst>
              <a:gd name="adj" fmla="val 2597"/>
            </a:avLst>
          </a:prstGeom>
          <a:solidFill>
            <a:srgbClr val="21295C"/>
          </a:solidFill>
        </p:spPr>
      </p:sp>
      <p:sp>
        <p:nvSpPr>
          <p:cNvPr id="29" name="Text 21"/>
          <p:cNvSpPr/>
          <p:nvPr/>
        </p:nvSpPr>
        <p:spPr>
          <a:xfrm>
            <a:off x="8321040" y="1645920"/>
            <a:ext cx="3108960" cy="274320"/>
          </a:xfrm>
          <a:prstGeom prst="rect">
            <a:avLst/>
          </a:prstGeom>
          <a:noFill/>
        </p:spPr>
        <p:txBody>
          <a:bodyPr wrap="square" rtlCol="0" anchor="ctr"/>
          <a:lstStyle/>
          <a:p>
            <a:pPr marL="0" indent="0">
              <a:buNone/>
            </a:pPr>
            <a:r>
              <a:rPr lang="en-US" sz="1150" b="1" kern="0" spc="150" dirty="0">
                <a:solidFill>
                  <a:srgbClr val="9FD8CB"/>
                </a:solidFill>
                <a:latin typeface="Calibri" panose="020F0502020204030204" pitchFamily="34" charset="0"/>
                <a:ea typeface="Calibri" panose="020F0502020204030204" pitchFamily="34" charset="-122"/>
                <a:cs typeface="Calibri" panose="020F0502020204030204" pitchFamily="34" charset="-120"/>
              </a:rPr>
              <a:t>KEY TAKEAWAY</a:t>
            </a:r>
            <a:endParaRPr lang="en-US" sz="1150" dirty="0"/>
          </a:p>
        </p:txBody>
      </p:sp>
      <p:sp>
        <p:nvSpPr>
          <p:cNvPr id="30" name="Text 22"/>
          <p:cNvSpPr/>
          <p:nvPr/>
        </p:nvSpPr>
        <p:spPr>
          <a:xfrm>
            <a:off x="8321040" y="2011680"/>
            <a:ext cx="3108960" cy="777240"/>
          </a:xfrm>
          <a:prstGeom prst="rect">
            <a:avLst/>
          </a:prstGeom>
          <a:noFill/>
        </p:spPr>
        <p:txBody>
          <a:bodyPr wrap="square" rtlCol="0" anchor="ctr"/>
          <a:lstStyle/>
          <a:p>
            <a:pPr marL="0" indent="0">
              <a:buNone/>
            </a:pPr>
            <a:r>
              <a:rPr lang="en-US" sz="4000" b="1" dirty="0">
                <a:solidFill>
                  <a:srgbClr val="FFFFFF"/>
                </a:solidFill>
                <a:latin typeface="Cambria" panose="02040503050406030204" pitchFamily="34" charset="0"/>
                <a:ea typeface="Cambria" panose="02040503050406030204" pitchFamily="34" charset="-122"/>
                <a:cs typeface="Cambria" panose="02040503050406030204" pitchFamily="34" charset="-120"/>
              </a:rPr>
              <a:t>Millions</a:t>
            </a:r>
            <a:endParaRPr lang="en-US" sz="4000" dirty="0"/>
          </a:p>
        </p:txBody>
      </p:sp>
      <p:sp>
        <p:nvSpPr>
          <p:cNvPr id="31" name="Text 23"/>
          <p:cNvSpPr/>
          <p:nvPr/>
        </p:nvSpPr>
        <p:spPr>
          <a:xfrm>
            <a:off x="8321040" y="2743200"/>
            <a:ext cx="3108960" cy="548640"/>
          </a:xfrm>
          <a:prstGeom prst="rect">
            <a:avLst/>
          </a:prstGeom>
          <a:noFill/>
        </p:spPr>
        <p:txBody>
          <a:bodyPr wrap="square" rtlCol="0" anchor="ctr"/>
          <a:lstStyle/>
          <a:p>
            <a:pPr marL="0" indent="0">
              <a:buNone/>
            </a:pPr>
            <a:r>
              <a:rPr lang="en-US" sz="1300" i="1" dirty="0">
                <a:solidFill>
                  <a:srgbClr val="9FD8CB"/>
                </a:solidFill>
                <a:latin typeface="Calibri" panose="020F0502020204030204" pitchFamily="34" charset="0"/>
                <a:ea typeface="Calibri" panose="020F0502020204030204" pitchFamily="34" charset="-122"/>
                <a:cs typeface="Calibri" panose="020F0502020204030204" pitchFamily="34" charset="-120"/>
              </a:rPr>
              <a:t>of records analyzed within seconds</a:t>
            </a:r>
            <a:endParaRPr lang="en-US" sz="1300" dirty="0"/>
          </a:p>
        </p:txBody>
      </p:sp>
      <p:sp>
        <p:nvSpPr>
          <p:cNvPr id="32" name="Text 24"/>
          <p:cNvSpPr/>
          <p:nvPr/>
        </p:nvSpPr>
        <p:spPr>
          <a:xfrm>
            <a:off x="8321040" y="3429000"/>
            <a:ext cx="3063240" cy="1463040"/>
          </a:xfrm>
          <a:prstGeom prst="rect">
            <a:avLst/>
          </a:prstGeom>
          <a:noFill/>
        </p:spPr>
        <p:txBody>
          <a:bodyPr wrap="square" rtlCol="0" anchor="ctr"/>
          <a:lstStyle/>
          <a:p>
            <a:pPr marL="0" indent="0">
              <a:lnSpc>
                <a:spcPts val="1600"/>
              </a:lnSpc>
              <a:buNone/>
            </a:pPr>
            <a:r>
              <a:rPr lang="en-US" sz="1200" dirty="0">
                <a:solidFill>
                  <a:srgbClr val="FFFFFF"/>
                </a:solidFill>
                <a:latin typeface="Calibri" panose="020F0502020204030204" pitchFamily="34" charset="0"/>
                <a:ea typeface="Calibri" panose="020F0502020204030204" pitchFamily="34" charset="-122"/>
                <a:cs typeface="Calibri" panose="020F0502020204030204" pitchFamily="34" charset="-120"/>
              </a:rPr>
              <a:t>Organizations can analyze millions of records within seconds, helping them make faster, data-driven decisions.</a:t>
            </a:r>
            <a:endParaRPr lang="en-US" sz="1200" dirty="0"/>
          </a:p>
        </p:txBody>
      </p:sp>
      <p:sp>
        <p:nvSpPr>
          <p:cNvPr id="33" name="Text 25"/>
          <p:cNvSpPr/>
          <p:nvPr/>
        </p:nvSpPr>
        <p:spPr>
          <a:xfrm>
            <a:off x="548640" y="3794760"/>
            <a:ext cx="4572000" cy="274320"/>
          </a:xfrm>
          <a:prstGeom prst="rect">
            <a:avLst/>
          </a:prstGeom>
          <a:noFill/>
        </p:spPr>
        <p:txBody>
          <a:bodyPr wrap="square" rtlCol="0" anchor="ctr"/>
          <a:lstStyle/>
          <a:p>
            <a:pPr marL="0" indent="0">
              <a:buNone/>
            </a:pPr>
            <a:r>
              <a:rPr lang="en-US" sz="1150" b="1" kern="0" spc="150" dirty="0">
                <a:solidFill>
                  <a:srgbClr val="1C7293"/>
                </a:solidFill>
                <a:latin typeface="Calibri" panose="020F0502020204030204" pitchFamily="34" charset="0"/>
                <a:ea typeface="Calibri" panose="020F0502020204030204" pitchFamily="34" charset="-122"/>
                <a:cs typeface="Calibri" panose="020F0502020204030204" pitchFamily="34" charset="-120"/>
              </a:rPr>
              <a:t>INDUSTRIES USING OLAP</a:t>
            </a:r>
            <a:endParaRPr lang="en-US" sz="1150" dirty="0"/>
          </a:p>
        </p:txBody>
      </p:sp>
      <p:sp>
        <p:nvSpPr>
          <p:cNvPr id="34" name="Shape 26"/>
          <p:cNvSpPr/>
          <p:nvPr/>
        </p:nvSpPr>
        <p:spPr>
          <a:xfrm>
            <a:off x="548640" y="4160520"/>
            <a:ext cx="1170432" cy="1325880"/>
          </a:xfrm>
          <a:prstGeom prst="roundRect">
            <a:avLst>
              <a:gd name="adj" fmla="val 6250"/>
            </a:avLst>
          </a:prstGeom>
          <a:solidFill>
            <a:srgbClr val="FFFFFF"/>
          </a:solidFill>
          <a:ln w="12700">
            <a:solidFill>
              <a:srgbClr val="E1E8EC"/>
            </a:solidFill>
            <a:prstDash val="solid"/>
          </a:ln>
        </p:spPr>
      </p:sp>
      <p:sp>
        <p:nvSpPr>
          <p:cNvPr id="35" name="Shape 27"/>
          <p:cNvSpPr/>
          <p:nvPr/>
        </p:nvSpPr>
        <p:spPr>
          <a:xfrm>
            <a:off x="882396" y="4325112"/>
            <a:ext cx="502920" cy="502920"/>
          </a:xfrm>
          <a:prstGeom prst="ellipse">
            <a:avLst/>
          </a:prstGeom>
          <a:solidFill>
            <a:srgbClr val="1C7293"/>
          </a:solidFill>
        </p:spPr>
      </p:sp>
      <p:pic>
        <p:nvPicPr>
          <p:cNvPr id="36" name="Image 6" descr="icons/bank.png"/>
          <p:cNvPicPr>
            <a:picLocks noChangeAspect="1"/>
          </p:cNvPicPr>
          <p:nvPr/>
        </p:nvPicPr>
        <p:blipFill>
          <a:blip r:embed="rId7"/>
          <a:stretch>
            <a:fillRect/>
          </a:stretch>
        </p:blipFill>
        <p:spPr>
          <a:xfrm>
            <a:off x="1003097" y="4445813"/>
            <a:ext cx="261518" cy="261518"/>
          </a:xfrm>
          <a:prstGeom prst="rect">
            <a:avLst/>
          </a:prstGeom>
        </p:spPr>
      </p:pic>
      <p:sp>
        <p:nvSpPr>
          <p:cNvPr id="37" name="Text 28"/>
          <p:cNvSpPr/>
          <p:nvPr/>
        </p:nvSpPr>
        <p:spPr>
          <a:xfrm>
            <a:off x="594360" y="4937760"/>
            <a:ext cx="1078992" cy="457200"/>
          </a:xfrm>
          <a:prstGeom prst="rect">
            <a:avLst/>
          </a:prstGeom>
          <a:noFill/>
        </p:spPr>
        <p:txBody>
          <a:bodyPr wrap="square" rtlCol="0" anchor="ctr"/>
          <a:lstStyle/>
          <a:p>
            <a:pPr marL="0" indent="0" algn="ctr">
              <a:lnSpc>
                <a:spcPts val="1100"/>
              </a:lnSpc>
              <a:buNone/>
            </a:pPr>
            <a:r>
              <a:rPr lang="en-US" sz="1000" b="1" dirty="0">
                <a:solidFill>
                  <a:srgbClr val="1B2733"/>
                </a:solidFill>
                <a:latin typeface="Calibri" panose="020F0502020204030204" pitchFamily="34" charset="0"/>
                <a:ea typeface="Calibri" panose="020F0502020204030204" pitchFamily="34" charset="-122"/>
                <a:cs typeface="Calibri" panose="020F0502020204030204" pitchFamily="34" charset="-120"/>
              </a:rPr>
              <a:t>Banking</a:t>
            </a:r>
            <a:endParaRPr lang="en-US" sz="1000" dirty="0"/>
          </a:p>
        </p:txBody>
      </p:sp>
      <p:sp>
        <p:nvSpPr>
          <p:cNvPr id="38" name="Shape 29"/>
          <p:cNvSpPr/>
          <p:nvPr/>
        </p:nvSpPr>
        <p:spPr>
          <a:xfrm>
            <a:off x="1787652" y="4160520"/>
            <a:ext cx="1170432" cy="1325880"/>
          </a:xfrm>
          <a:prstGeom prst="roundRect">
            <a:avLst>
              <a:gd name="adj" fmla="val 6250"/>
            </a:avLst>
          </a:prstGeom>
          <a:solidFill>
            <a:srgbClr val="FFFFFF"/>
          </a:solidFill>
          <a:ln w="12700">
            <a:solidFill>
              <a:srgbClr val="E1E8EC"/>
            </a:solidFill>
            <a:prstDash val="solid"/>
          </a:ln>
        </p:spPr>
      </p:sp>
      <p:sp>
        <p:nvSpPr>
          <p:cNvPr id="39" name="Shape 30"/>
          <p:cNvSpPr/>
          <p:nvPr/>
        </p:nvSpPr>
        <p:spPr>
          <a:xfrm>
            <a:off x="2121408" y="4325112"/>
            <a:ext cx="502920" cy="502920"/>
          </a:xfrm>
          <a:prstGeom prst="ellipse">
            <a:avLst/>
          </a:prstGeom>
          <a:solidFill>
            <a:srgbClr val="1C7293"/>
          </a:solidFill>
        </p:spPr>
      </p:sp>
      <p:pic>
        <p:nvPicPr>
          <p:cNvPr id="40" name="Image 7" descr="icons/health.png"/>
          <p:cNvPicPr>
            <a:picLocks noChangeAspect="1"/>
          </p:cNvPicPr>
          <p:nvPr/>
        </p:nvPicPr>
        <p:blipFill>
          <a:blip r:embed="rId8"/>
          <a:stretch>
            <a:fillRect/>
          </a:stretch>
        </p:blipFill>
        <p:spPr>
          <a:xfrm>
            <a:off x="2242109" y="4445813"/>
            <a:ext cx="261518" cy="261518"/>
          </a:xfrm>
          <a:prstGeom prst="rect">
            <a:avLst/>
          </a:prstGeom>
        </p:spPr>
      </p:pic>
      <p:sp>
        <p:nvSpPr>
          <p:cNvPr id="41" name="Text 31"/>
          <p:cNvSpPr/>
          <p:nvPr/>
        </p:nvSpPr>
        <p:spPr>
          <a:xfrm>
            <a:off x="1833372" y="4937760"/>
            <a:ext cx="1078992" cy="457200"/>
          </a:xfrm>
          <a:prstGeom prst="rect">
            <a:avLst/>
          </a:prstGeom>
          <a:noFill/>
        </p:spPr>
        <p:txBody>
          <a:bodyPr wrap="square" rtlCol="0" anchor="ctr"/>
          <a:lstStyle/>
          <a:p>
            <a:pPr marL="0" indent="0" algn="ctr">
              <a:lnSpc>
                <a:spcPts val="1100"/>
              </a:lnSpc>
              <a:buNone/>
            </a:pPr>
            <a:r>
              <a:rPr lang="en-US" sz="1000" b="1" dirty="0">
                <a:solidFill>
                  <a:srgbClr val="1B2733"/>
                </a:solidFill>
                <a:latin typeface="Calibri" panose="020F0502020204030204" pitchFamily="34" charset="0"/>
                <a:ea typeface="Calibri" panose="020F0502020204030204" pitchFamily="34" charset="-122"/>
                <a:cs typeface="Calibri" panose="020F0502020204030204" pitchFamily="34" charset="-120"/>
              </a:rPr>
              <a:t>Healthcare</a:t>
            </a:r>
            <a:endParaRPr lang="en-US" sz="1000" dirty="0"/>
          </a:p>
        </p:txBody>
      </p:sp>
      <p:sp>
        <p:nvSpPr>
          <p:cNvPr id="42" name="Shape 32"/>
          <p:cNvSpPr/>
          <p:nvPr/>
        </p:nvSpPr>
        <p:spPr>
          <a:xfrm>
            <a:off x="3026664" y="4160520"/>
            <a:ext cx="1170432" cy="1325880"/>
          </a:xfrm>
          <a:prstGeom prst="roundRect">
            <a:avLst>
              <a:gd name="adj" fmla="val 6250"/>
            </a:avLst>
          </a:prstGeom>
          <a:solidFill>
            <a:srgbClr val="FFFFFF"/>
          </a:solidFill>
          <a:ln w="12700">
            <a:solidFill>
              <a:srgbClr val="E1E8EC"/>
            </a:solidFill>
            <a:prstDash val="solid"/>
          </a:ln>
        </p:spPr>
      </p:sp>
      <p:sp>
        <p:nvSpPr>
          <p:cNvPr id="43" name="Shape 33"/>
          <p:cNvSpPr/>
          <p:nvPr/>
        </p:nvSpPr>
        <p:spPr>
          <a:xfrm>
            <a:off x="3360420" y="4325112"/>
            <a:ext cx="502920" cy="502920"/>
          </a:xfrm>
          <a:prstGeom prst="ellipse">
            <a:avLst/>
          </a:prstGeom>
          <a:solidFill>
            <a:srgbClr val="1C7293"/>
          </a:solidFill>
        </p:spPr>
      </p:sp>
      <p:pic>
        <p:nvPicPr>
          <p:cNvPr id="44" name="Image 8" descr="icons/store.png"/>
          <p:cNvPicPr>
            <a:picLocks noChangeAspect="1"/>
          </p:cNvPicPr>
          <p:nvPr/>
        </p:nvPicPr>
        <p:blipFill>
          <a:blip r:embed="rId9"/>
          <a:stretch>
            <a:fillRect/>
          </a:stretch>
        </p:blipFill>
        <p:spPr>
          <a:xfrm>
            <a:off x="3481121" y="4445813"/>
            <a:ext cx="261518" cy="261518"/>
          </a:xfrm>
          <a:prstGeom prst="rect">
            <a:avLst/>
          </a:prstGeom>
        </p:spPr>
      </p:pic>
      <p:sp>
        <p:nvSpPr>
          <p:cNvPr id="45" name="Text 34"/>
          <p:cNvSpPr/>
          <p:nvPr/>
        </p:nvSpPr>
        <p:spPr>
          <a:xfrm>
            <a:off x="3072384" y="4937760"/>
            <a:ext cx="1078992" cy="457200"/>
          </a:xfrm>
          <a:prstGeom prst="rect">
            <a:avLst/>
          </a:prstGeom>
          <a:noFill/>
        </p:spPr>
        <p:txBody>
          <a:bodyPr wrap="square" rtlCol="0" anchor="ctr"/>
          <a:lstStyle/>
          <a:p>
            <a:pPr marL="0" indent="0" algn="ctr">
              <a:lnSpc>
                <a:spcPts val="1100"/>
              </a:lnSpc>
              <a:buNone/>
            </a:pPr>
            <a:r>
              <a:rPr lang="en-US" sz="1000" b="1" dirty="0">
                <a:solidFill>
                  <a:srgbClr val="1B2733"/>
                </a:solidFill>
                <a:latin typeface="Calibri" panose="020F0502020204030204" pitchFamily="34" charset="0"/>
                <a:ea typeface="Calibri" panose="020F0502020204030204" pitchFamily="34" charset="-122"/>
                <a:cs typeface="Calibri" panose="020F0502020204030204" pitchFamily="34" charset="-120"/>
              </a:rPr>
              <a:t>Retail</a:t>
            </a:r>
            <a:endParaRPr lang="en-US" sz="1000" dirty="0"/>
          </a:p>
        </p:txBody>
      </p:sp>
      <p:sp>
        <p:nvSpPr>
          <p:cNvPr id="46" name="Shape 35"/>
          <p:cNvSpPr/>
          <p:nvPr/>
        </p:nvSpPr>
        <p:spPr>
          <a:xfrm>
            <a:off x="4265676" y="4160520"/>
            <a:ext cx="1170432" cy="1325880"/>
          </a:xfrm>
          <a:prstGeom prst="roundRect">
            <a:avLst>
              <a:gd name="adj" fmla="val 6250"/>
            </a:avLst>
          </a:prstGeom>
          <a:solidFill>
            <a:srgbClr val="FFFFFF"/>
          </a:solidFill>
          <a:ln w="12700">
            <a:solidFill>
              <a:srgbClr val="E1E8EC"/>
            </a:solidFill>
            <a:prstDash val="solid"/>
          </a:ln>
        </p:spPr>
      </p:sp>
      <p:sp>
        <p:nvSpPr>
          <p:cNvPr id="47" name="Shape 36"/>
          <p:cNvSpPr/>
          <p:nvPr/>
        </p:nvSpPr>
        <p:spPr>
          <a:xfrm>
            <a:off x="4599432" y="4325112"/>
            <a:ext cx="502920" cy="502920"/>
          </a:xfrm>
          <a:prstGeom prst="ellipse">
            <a:avLst/>
          </a:prstGeom>
          <a:solidFill>
            <a:srgbClr val="1C7293"/>
          </a:solidFill>
        </p:spPr>
      </p:sp>
      <p:pic>
        <p:nvPicPr>
          <p:cNvPr id="48" name="Image 9" descr="icons/coins.png"/>
          <p:cNvPicPr>
            <a:picLocks noChangeAspect="1"/>
          </p:cNvPicPr>
          <p:nvPr/>
        </p:nvPicPr>
        <p:blipFill>
          <a:blip r:embed="rId10"/>
          <a:stretch>
            <a:fillRect/>
          </a:stretch>
        </p:blipFill>
        <p:spPr>
          <a:xfrm>
            <a:off x="4720133" y="4445813"/>
            <a:ext cx="261518" cy="261518"/>
          </a:xfrm>
          <a:prstGeom prst="rect">
            <a:avLst/>
          </a:prstGeom>
        </p:spPr>
      </p:pic>
      <p:sp>
        <p:nvSpPr>
          <p:cNvPr id="49" name="Text 37"/>
          <p:cNvSpPr/>
          <p:nvPr/>
        </p:nvSpPr>
        <p:spPr>
          <a:xfrm>
            <a:off x="4311396" y="4937760"/>
            <a:ext cx="1078992" cy="457200"/>
          </a:xfrm>
          <a:prstGeom prst="rect">
            <a:avLst/>
          </a:prstGeom>
          <a:noFill/>
        </p:spPr>
        <p:txBody>
          <a:bodyPr wrap="square" rtlCol="0" anchor="ctr"/>
          <a:lstStyle/>
          <a:p>
            <a:pPr marL="0" indent="0" algn="ctr">
              <a:lnSpc>
                <a:spcPts val="1100"/>
              </a:lnSpc>
              <a:buNone/>
            </a:pPr>
            <a:r>
              <a:rPr lang="en-US" sz="1000" b="1" dirty="0">
                <a:solidFill>
                  <a:srgbClr val="1B2733"/>
                </a:solidFill>
                <a:latin typeface="Calibri" panose="020F0502020204030204" pitchFamily="34" charset="0"/>
                <a:ea typeface="Calibri" panose="020F0502020204030204" pitchFamily="34" charset="-122"/>
                <a:cs typeface="Calibri" panose="020F0502020204030204" pitchFamily="34" charset="-120"/>
              </a:rPr>
              <a:t>Finance</a:t>
            </a:r>
            <a:endParaRPr lang="en-US" sz="1000" dirty="0"/>
          </a:p>
        </p:txBody>
      </p:sp>
      <p:sp>
        <p:nvSpPr>
          <p:cNvPr id="50" name="Shape 38"/>
          <p:cNvSpPr/>
          <p:nvPr/>
        </p:nvSpPr>
        <p:spPr>
          <a:xfrm>
            <a:off x="5504688" y="4160520"/>
            <a:ext cx="1170432" cy="1325880"/>
          </a:xfrm>
          <a:prstGeom prst="roundRect">
            <a:avLst>
              <a:gd name="adj" fmla="val 6250"/>
            </a:avLst>
          </a:prstGeom>
          <a:solidFill>
            <a:srgbClr val="FFFFFF"/>
          </a:solidFill>
          <a:ln w="12700">
            <a:solidFill>
              <a:srgbClr val="E1E8EC"/>
            </a:solidFill>
            <a:prstDash val="solid"/>
          </a:ln>
        </p:spPr>
      </p:sp>
      <p:sp>
        <p:nvSpPr>
          <p:cNvPr id="51" name="Shape 39"/>
          <p:cNvSpPr/>
          <p:nvPr/>
        </p:nvSpPr>
        <p:spPr>
          <a:xfrm>
            <a:off x="5838444" y="4325112"/>
            <a:ext cx="502920" cy="502920"/>
          </a:xfrm>
          <a:prstGeom prst="ellipse">
            <a:avLst/>
          </a:prstGeom>
          <a:solidFill>
            <a:srgbClr val="1C7293"/>
          </a:solidFill>
        </p:spPr>
      </p:sp>
      <p:pic>
        <p:nvPicPr>
          <p:cNvPr id="52" name="Image 10" descr="icons/bag.png"/>
          <p:cNvPicPr>
            <a:picLocks noChangeAspect="1"/>
          </p:cNvPicPr>
          <p:nvPr/>
        </p:nvPicPr>
        <p:blipFill>
          <a:blip r:embed="rId11"/>
          <a:stretch>
            <a:fillRect/>
          </a:stretch>
        </p:blipFill>
        <p:spPr>
          <a:xfrm>
            <a:off x="5959145" y="4445813"/>
            <a:ext cx="261518" cy="261518"/>
          </a:xfrm>
          <a:prstGeom prst="rect">
            <a:avLst/>
          </a:prstGeom>
        </p:spPr>
      </p:pic>
      <p:sp>
        <p:nvSpPr>
          <p:cNvPr id="53" name="Text 40"/>
          <p:cNvSpPr/>
          <p:nvPr/>
        </p:nvSpPr>
        <p:spPr>
          <a:xfrm>
            <a:off x="5550408" y="4937760"/>
            <a:ext cx="1078992" cy="457200"/>
          </a:xfrm>
          <a:prstGeom prst="rect">
            <a:avLst/>
          </a:prstGeom>
          <a:noFill/>
        </p:spPr>
        <p:txBody>
          <a:bodyPr wrap="square" rtlCol="0" anchor="ctr"/>
          <a:lstStyle/>
          <a:p>
            <a:pPr marL="0" indent="0" algn="ctr">
              <a:lnSpc>
                <a:spcPts val="1100"/>
              </a:lnSpc>
              <a:buNone/>
            </a:pPr>
            <a:r>
              <a:rPr lang="en-US" sz="1000" b="1" dirty="0">
                <a:solidFill>
                  <a:srgbClr val="1B2733"/>
                </a:solidFill>
                <a:latin typeface="Calibri" panose="020F0502020204030204" pitchFamily="34" charset="0"/>
                <a:ea typeface="Calibri" panose="020F0502020204030204" pitchFamily="34" charset="-122"/>
                <a:cs typeface="Calibri" panose="020F0502020204030204" pitchFamily="34" charset="-120"/>
              </a:rPr>
              <a:t>E-commerce</a:t>
            </a:r>
            <a:endParaRPr lang="en-US" sz="1000" dirty="0"/>
          </a:p>
        </p:txBody>
      </p:sp>
      <p:sp>
        <p:nvSpPr>
          <p:cNvPr id="54" name="Shape 41"/>
          <p:cNvSpPr/>
          <p:nvPr/>
        </p:nvSpPr>
        <p:spPr>
          <a:xfrm>
            <a:off x="6743700" y="4160520"/>
            <a:ext cx="1170432" cy="1325880"/>
          </a:xfrm>
          <a:prstGeom prst="roundRect">
            <a:avLst>
              <a:gd name="adj" fmla="val 6250"/>
            </a:avLst>
          </a:prstGeom>
          <a:solidFill>
            <a:srgbClr val="FFFFFF"/>
          </a:solidFill>
          <a:ln w="12700">
            <a:solidFill>
              <a:srgbClr val="E1E8EC"/>
            </a:solidFill>
            <a:prstDash val="solid"/>
          </a:ln>
        </p:spPr>
      </p:sp>
      <p:sp>
        <p:nvSpPr>
          <p:cNvPr id="55" name="Shape 42"/>
          <p:cNvSpPr/>
          <p:nvPr/>
        </p:nvSpPr>
        <p:spPr>
          <a:xfrm>
            <a:off x="7077456" y="4325112"/>
            <a:ext cx="502920" cy="502920"/>
          </a:xfrm>
          <a:prstGeom prst="ellipse">
            <a:avLst/>
          </a:prstGeom>
          <a:solidFill>
            <a:srgbClr val="1C7293"/>
          </a:solidFill>
        </p:spPr>
      </p:sp>
      <p:pic>
        <p:nvPicPr>
          <p:cNvPr id="56" name="Image 11" descr="icons/sport.png"/>
          <p:cNvPicPr>
            <a:picLocks noChangeAspect="1"/>
          </p:cNvPicPr>
          <p:nvPr/>
        </p:nvPicPr>
        <p:blipFill>
          <a:blip r:embed="rId12"/>
          <a:stretch>
            <a:fillRect/>
          </a:stretch>
        </p:blipFill>
        <p:spPr>
          <a:xfrm>
            <a:off x="7198157" y="4445813"/>
            <a:ext cx="261518" cy="261518"/>
          </a:xfrm>
          <a:prstGeom prst="rect">
            <a:avLst/>
          </a:prstGeom>
        </p:spPr>
      </p:pic>
      <p:sp>
        <p:nvSpPr>
          <p:cNvPr id="57" name="Text 43"/>
          <p:cNvSpPr/>
          <p:nvPr/>
        </p:nvSpPr>
        <p:spPr>
          <a:xfrm>
            <a:off x="6789420" y="4937760"/>
            <a:ext cx="1078992" cy="457200"/>
          </a:xfrm>
          <a:prstGeom prst="rect">
            <a:avLst/>
          </a:prstGeom>
          <a:noFill/>
        </p:spPr>
        <p:txBody>
          <a:bodyPr wrap="square" rtlCol="0" anchor="ctr"/>
          <a:lstStyle/>
          <a:p>
            <a:pPr marL="0" indent="0" algn="ctr">
              <a:lnSpc>
                <a:spcPts val="1100"/>
              </a:lnSpc>
              <a:buNone/>
            </a:pPr>
            <a:r>
              <a:rPr lang="en-US" sz="1000" b="1" dirty="0">
                <a:solidFill>
                  <a:srgbClr val="1B2733"/>
                </a:solidFill>
                <a:latin typeface="Calibri" panose="020F0502020204030204" pitchFamily="34" charset="0"/>
                <a:ea typeface="Calibri" panose="020F0502020204030204" pitchFamily="34" charset="-122"/>
                <a:cs typeface="Calibri" panose="020F0502020204030204" pitchFamily="34" charset="-120"/>
              </a:rPr>
              <a:t>Sports Analytics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2309</Words>
  <Application>WPS Presentation</Application>
  <PresentationFormat>On-screen Show (16:9)</PresentationFormat>
  <Paragraphs>161</Paragraphs>
  <Slides>5</Slides>
  <Notes>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5</vt:i4>
      </vt:variant>
    </vt:vector>
  </HeadingPairs>
  <TitlesOfParts>
    <vt:vector size="17" baseType="lpstr">
      <vt:lpstr>Arial</vt:lpstr>
      <vt:lpstr>SimSun</vt:lpstr>
      <vt:lpstr>Wingdings</vt:lpstr>
      <vt:lpstr>Calibri</vt:lpstr>
      <vt:lpstr>Calibri</vt:lpstr>
      <vt:lpstr>Calibri</vt:lpstr>
      <vt:lpstr>Cambria</vt:lpstr>
      <vt:lpstr>Cambria</vt:lpstr>
      <vt:lpstr>Cambria</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NARRA HARSHITH</cp:lastModifiedBy>
  <cp:revision>4</cp:revision>
  <dcterms:created xsi:type="dcterms:W3CDTF">2026-07-21T05:55:00Z</dcterms:created>
  <dcterms:modified xsi:type="dcterms:W3CDTF">2026-07-23T02:06:57Z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078CDE39A48B47D0BE96A5AB9BB43079_13</vt:lpwstr>
  </property>
  <property fmtid="{D5CDD505-2E9C-101B-9397-08002B2CF9AE}" pid="3" name="KSOProductBuildVer">
    <vt:lpwstr>1033-12.1.0.26880</vt:lpwstr>
  </property>
</Properties>
</file>